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6" r:id="rId1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6: Personal Branding
&amp; Career Readiness
Time: 9:00 – 10:30 AM
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4338C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10:30 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Career Readiness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product. Make sure the packaging matches the quality.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4338CA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your personal brand statement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Craft a compelling LinkedIn profile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a resume that stands out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Prepare your online digital presence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Develop a 90-day plan for your first job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Exists Whether You Build It or Not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brand is what people say about you when you're not in the room." — Jeff Bezos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6235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analytical, creative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73368" y="2331720"/>
            <a:ext cx="56235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4688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VALUES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56248" y="2926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stand for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56248" y="329184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learning, impact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56235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5720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" y="50292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choices, trajectory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73368" y="4434840"/>
            <a:ext cx="56235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45720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56248" y="50292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show up online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56248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GitHub, writing, projects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LinkedIn Profile That Gets Noticed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1600200" cy="694944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6" name="Shape 4"/>
          <p:cNvSpPr/>
          <p:nvPr/>
        </p:nvSpPr>
        <p:spPr>
          <a:xfrm>
            <a:off x="2148840" y="1719072"/>
            <a:ext cx="498348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7" name="Shape 5"/>
          <p:cNvSpPr/>
          <p:nvPr/>
        </p:nvSpPr>
        <p:spPr>
          <a:xfrm>
            <a:off x="7178040" y="1719072"/>
            <a:ext cx="4572000" cy="694944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1907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86000" y="1719072"/>
            <a:ext cx="4709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Professional, well-lit, plain background, genuine smile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0" y="1719072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Selfie, group photo, sunglasses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23744"/>
            <a:ext cx="1600200" cy="694944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2" name="Shape 10"/>
          <p:cNvSpPr/>
          <p:nvPr/>
        </p:nvSpPr>
        <p:spPr>
          <a:xfrm>
            <a:off x="2148840" y="2523744"/>
            <a:ext cx="498348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2523744"/>
            <a:ext cx="4572000" cy="694944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523744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86000" y="2523744"/>
            <a:ext cx="4709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"Final Year ECE | Embedded Systems | Seeking SWE roles — June 2025"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0" y="2523744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"Student at XYZ College"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328416"/>
            <a:ext cx="1600200" cy="694944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8" name="Shape 16"/>
          <p:cNvSpPr/>
          <p:nvPr/>
        </p:nvSpPr>
        <p:spPr>
          <a:xfrm>
            <a:off x="2148840" y="3328416"/>
            <a:ext cx="498348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3328416"/>
            <a:ext cx="4572000" cy="694944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328416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86000" y="3328416"/>
            <a:ext cx="4709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sentences: who you are, what you do, what you're looking for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0" y="3328416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Copy-paste resume summary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133088"/>
            <a:ext cx="1600200" cy="694944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4" name="Shape 22"/>
          <p:cNvSpPr/>
          <p:nvPr/>
        </p:nvSpPr>
        <p:spPr>
          <a:xfrm>
            <a:off x="2148840" y="4133088"/>
            <a:ext cx="498348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8040" y="4133088"/>
            <a:ext cx="4572000" cy="694944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13308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86000" y="4133088"/>
            <a:ext cx="4709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Internships, projects, contributions — with outcome metrics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0" y="4133088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List of tasks, no results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937760"/>
            <a:ext cx="1600200" cy="694944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0" name="Shape 28"/>
          <p:cNvSpPr/>
          <p:nvPr/>
        </p:nvSpPr>
        <p:spPr>
          <a:xfrm>
            <a:off x="2148840" y="4937760"/>
            <a:ext cx="498348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1" name="Shape 29"/>
          <p:cNvSpPr/>
          <p:nvPr/>
        </p:nvSpPr>
        <p:spPr>
          <a:xfrm>
            <a:off x="7178040" y="4937760"/>
            <a:ext cx="4572000" cy="694944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4937760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286000" y="4937760"/>
            <a:ext cx="4709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Top 5 that match job descriptions; get endorsements from peers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15200" y="4937760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50 random skills no one looks at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5742432"/>
            <a:ext cx="1600200" cy="694944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6" name="Shape 34"/>
          <p:cNvSpPr/>
          <p:nvPr/>
        </p:nvSpPr>
        <p:spPr>
          <a:xfrm>
            <a:off x="2148840" y="5742432"/>
            <a:ext cx="4983480" cy="694944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5742432"/>
            <a:ext cx="4572000" cy="694944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5742432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286000" y="5742432"/>
            <a:ext cx="4709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100+ connections before you graduate — start now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315200" y="5742432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Connecting only when job hunting</a:t>
            </a:r>
            <a:endParaRPr lang="en-US" sz="11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Resume That Actually Gets Read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5440680" cy="47548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Essentials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" y="22860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only — for freshers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27432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LinkedIn URL + professional email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first; then projects; then skills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" y="36576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bullet: Action Verb + Task + Outcome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41148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numbers wherever possible (↑20% / 3 weeks)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" y="45720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ATS-safe: no tables, no images, plain text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512" y="50292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" y="5029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it per role — one-size-fits-all fails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1645920"/>
            <a:ext cx="5440680" cy="47548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82512" y="22860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6" name="Text 24"/>
          <p:cNvSpPr/>
          <p:nvPr/>
        </p:nvSpPr>
        <p:spPr>
          <a:xfrm>
            <a:off x="6547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statement no one reads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82512" y="27432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8" name="Text 26"/>
          <p:cNvSpPr/>
          <p:nvPr/>
        </p:nvSpPr>
        <p:spPr>
          <a:xfrm>
            <a:off x="6547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'Team player' and 'hard worker' — everyone says this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82512" y="32004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0" name="Text 28"/>
          <p:cNvSpPr/>
          <p:nvPr/>
        </p:nvSpPr>
        <p:spPr>
          <a:xfrm>
            <a:off x="6547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outcomes on any point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82512" y="36576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2" name="Text 30"/>
          <p:cNvSpPr/>
          <p:nvPr/>
        </p:nvSpPr>
        <p:spPr>
          <a:xfrm>
            <a:off x="6547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font / spacing / alignment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82512" y="41148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4" name="Text 32"/>
          <p:cNvSpPr/>
          <p:nvPr/>
        </p:nvSpPr>
        <p:spPr>
          <a:xfrm>
            <a:off x="6547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"Responsible for…" — passive voice kills impact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82512" y="45720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6" name="Text 34"/>
          <p:cNvSpPr/>
          <p:nvPr/>
        </p:nvSpPr>
        <p:spPr>
          <a:xfrm>
            <a:off x="6547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the same resume to 50 companies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82512" y="5029200"/>
            <a:ext cx="54864" cy="2743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8" name="Text 36"/>
          <p:cNvSpPr/>
          <p:nvPr/>
        </p:nvSpPr>
        <p:spPr>
          <a:xfrm>
            <a:off x="6547104" y="5029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proofreading — one typo ends it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JOB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90-Day Plan — Start Strong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703320" cy="4681728"/>
          </a:xfrm>
          <a:prstGeom prst="rect">
            <a:avLst/>
          </a:prstGeom>
          <a:solidFill>
            <a:srgbClr val="152242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703320" cy="47548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&amp; Learn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9992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Introduce yourself to 10 people across teams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380390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Understand how decisions are made — watch, don't judge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460857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Document everything you're told or shown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541324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Ask 'What does good work look like here?'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1874520"/>
            <a:ext cx="3703320" cy="4681728"/>
          </a:xfrm>
          <a:prstGeom prst="rect">
            <a:avLst/>
          </a:prstGeom>
          <a:solidFill>
            <a:srgbClr val="15224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1874520"/>
            <a:ext cx="3703320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874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23957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&amp; Connect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81144" y="29992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Take ownership of one visible task or mini-project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81144" y="380390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Schedule 1:1 with your manager — clarify expectations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81144" y="460857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Offer help proactively — don't wait to be asked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1144" y="541324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Start building cross-team relationships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30184" y="1874520"/>
            <a:ext cx="3703320" cy="4681728"/>
          </a:xfrm>
          <a:prstGeom prst="rect">
            <a:avLst/>
          </a:prstGeom>
          <a:solidFill>
            <a:srgbClr val="152242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0184" y="1874520"/>
            <a:ext cx="3703320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8467344" y="1874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67344" y="23957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Propose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94776" y="29992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Identify one improvement in your team's process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94776" y="380390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Present it with a plan — not just a complaint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94776" y="460857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Ask for a 90-day feedback conversation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94776" y="541324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Set your 6-month learning goals with your manager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4338C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Brand Statement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 questions on paper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What am I good at? (2) What do I value? (3) Who do I want to help or work with?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headline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LinkedIn headline: '[Role] | [Skill area] | [What you offer or seek]' in 15 words or less.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other's headline. Would you connect with this person? What's missing or weak?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and read aloud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final version — say it out loud. Does it sound like you?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 is your net worth. But your reputation is what makes people want to be in 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Career wisdom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What Would You Do?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5568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Two Candidates Apply for the Same 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 at a mid-size tech company receives 200 applications. She spends an average of 6 seconds on each resume. She then opens LinkedIn profiles for anyone who passes the initial filter. Candidate A vs Candidate B — same college, same CGPA.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makes Candidate A get the callback when Candidate B doesn't?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Candidate A (gets the call)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"Final Year CS | Full Stack Dev | Built 3 live projects | Seeking SDE roles"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About: 3 clear sentences. Projects with GitHub links. Skills matching the JD exactly.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answers the recruiter's one question: 'Should I spend more than 6 seconds here?' Project links = proof. Matching JD keywords = passes ATS filter before human eyes.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Candidate B (no callback)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"Computer Science Student | Passionate Learner | NSIT 2025"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About: Blank. Projects listed without links. Skills: MS Office, Teamwork, Leadership.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'Passionate learner' tells the recruiter nothing. Blank About = missed opportunity. MS Office as a skill in 2025 = dated. No links = no proof. No proof = no call.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vs DON'T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Writing — The Rules That Matter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539496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6263640" y="1719072"/>
            <a:ext cx="5394960" cy="43891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1907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71907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THIS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860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bullet with a strong action verb (Led, Built, Reduced, Launched)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9067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metric in at least 3 of your bullets (%, ₹, users, time saved)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95344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89534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keywords from the job description you're applying 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700016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7000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formatting — same font, same bullet style throughout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504688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8E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5046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GitHub / portfolio link above the fold (first third of page)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286000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2860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phrases like 'responsible for' or 'assisted in' — they're weak and passive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090672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09067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'References available on request' — it wastes a line and adds nothing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895344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389534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tables, text boxes, or columns — ATS systems can't read them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4700016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47000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one page as a fresher — length signals inability to prioritise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5504688"/>
            <a:ext cx="5394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8C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55046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resume for every application — it will lose to a tailored one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RECRUITER'S REALITY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Recruiter Sees in 6 Seconds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280160" cy="129844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1280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sec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4206240" cy="129844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8" name="Text 6"/>
          <p:cNvSpPr/>
          <p:nvPr/>
        </p:nvSpPr>
        <p:spPr>
          <a:xfrm>
            <a:off x="1938528" y="1993392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— Name &amp; Headline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38528" y="242316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person relevant to my role?"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920240"/>
            <a:ext cx="5623560" cy="129844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20240"/>
            <a:ext cx="5349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Your headline is your first filter. Make it specific, not generic.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1280160" cy="12984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429000"/>
            <a:ext cx="1280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3429000"/>
            <a:ext cx="4206240" cy="129844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5" name="Text 13"/>
          <p:cNvSpPr/>
          <p:nvPr/>
        </p:nvSpPr>
        <p:spPr>
          <a:xfrm>
            <a:off x="1938528" y="3502152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— Most Recent Role / Project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938528" y="393192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"Have they done anything real?"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429000"/>
            <a:ext cx="5623560" cy="129844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429000"/>
            <a:ext cx="5349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Top of your experience section. Numbers, links, outcomes — here.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937760"/>
            <a:ext cx="1280160" cy="12984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37760"/>
            <a:ext cx="1280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0" y="4937760"/>
            <a:ext cx="4206240" cy="129844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2" name="Text 20"/>
          <p:cNvSpPr/>
          <p:nvPr/>
        </p:nvSpPr>
        <p:spPr>
          <a:xfrm>
            <a:off x="1938528" y="5010912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 — Skills section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938528" y="5440680"/>
            <a:ext cx="4005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they match my JD keywords?"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4937760"/>
            <a:ext cx="5623560" cy="129844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937760"/>
            <a:ext cx="5349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List the specific tools and frameworks. Not 'coding' — say 'React, Python, MongoDB'.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recruiter review time per resume: 6 seconds. Average callback rate: 2-3% of applications. Optimise for the scan, not the read.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19456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Fresher's Toolkit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all of these — but you should know they exist and what they're for.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164592" cy="1170432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— drafting, learning, debugging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286000"/>
            <a:ext cx="164592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Naukri, Instahyre, Wellfound (startups)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84448"/>
            <a:ext cx="164592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941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Portfolio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0873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Canva, Novoresume, GitHub, personal site (Vercel)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584448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84448"/>
            <a:ext cx="164592" cy="1170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6941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40873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Notion, Google Workspace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82896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82896"/>
            <a:ext cx="164592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538581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Trello, Asana, Linear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4882896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4882896"/>
            <a:ext cx="164592" cy="117043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538581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Pramp, interviewing.io, LeetCode, Glassdoor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