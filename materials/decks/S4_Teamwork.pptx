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4" r:id="rId15"/>
    <p:sldId id="265" r:id="rId16"/>
    <p:sldId id="266" r:id="rId1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4: Teamwork &amp;
Workplace Collaboration
Time: 3:00 – 4:30 PM
Day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4:30 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Collaboration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builds anything great alone. Learn to multiply your impact.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Understand team dynamics and roles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Collaborate across departments and seniority levels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Handle conflict constructively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Contribute meaningfully even as a fresher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trust as a reliable team member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Are Built in Teams, Not Alone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703320" cy="4462272"/>
          </a:xfrm>
          <a:prstGeom prst="rect">
            <a:avLst/>
          </a:prstGeom>
          <a:solidFill>
            <a:srgbClr val="FFFFFF"/>
          </a:solidFill>
          <a:ln w="19050">
            <a:solidFill>
              <a:srgbClr val="D8D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9339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employers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493008"/>
            <a:ext cx="3337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teamwork as a critical skill in new hires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8006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NACE Job Outlook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16552" y="1828800"/>
            <a:ext cx="3703320" cy="4462272"/>
          </a:xfrm>
          <a:prstGeom prst="rect">
            <a:avLst/>
          </a:prstGeom>
          <a:solidFill>
            <a:srgbClr val="FFFFFF"/>
          </a:solidFill>
          <a:ln w="19050">
            <a:solidFill>
              <a:srgbClr val="D8D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99339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99432" y="2834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outperform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9432" y="3493008"/>
            <a:ext cx="3337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on complex tasks 95% of the 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48006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McKinsey Research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30184" y="1828800"/>
            <a:ext cx="3703320" cy="4462272"/>
          </a:xfrm>
          <a:prstGeom prst="rect">
            <a:avLst/>
          </a:prstGeom>
          <a:solidFill>
            <a:srgbClr val="FFFFFF"/>
          </a:solidFill>
          <a:ln w="19050">
            <a:solidFill>
              <a:srgbClr val="D8D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99339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13064" y="2834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exit reason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13064" y="3493008"/>
            <a:ext cx="3337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early career professionals is 'couldn't gel with the team'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13064" y="48006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LinkedIn Survey</a:t>
            </a:r>
            <a:endParaRPr lang="en-US" sz="10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DYNAMICS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Role in a Team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effective team needs each of these. What type are you?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3703320" cy="1847088"/>
          </a:xfrm>
          <a:prstGeom prst="rect">
            <a:avLst/>
          </a:prstGeom>
          <a:solidFill>
            <a:srgbClr val="1E336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945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67512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Generator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32918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sees possibilities, may need grounding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2084832"/>
            <a:ext cx="3703320" cy="1847088"/>
          </a:xfrm>
          <a:prstGeom prst="rect">
            <a:avLst/>
          </a:prstGeom>
          <a:solidFill>
            <a:srgbClr val="1E336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21945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81144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1144" y="32918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reliable, turns ideas into plans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30184" y="2084832"/>
            <a:ext cx="3703320" cy="1847088"/>
          </a:xfrm>
          <a:prstGeom prst="rect">
            <a:avLst/>
          </a:prstGeom>
          <a:solidFill>
            <a:srgbClr val="1E336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21945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494776" y="2862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94776" y="32918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thinker, spots flaws before they become problems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096512"/>
            <a:ext cx="3703320" cy="1847088"/>
          </a:xfrm>
          <a:prstGeom prst="rect">
            <a:avLst/>
          </a:prstGeom>
          <a:solidFill>
            <a:srgbClr val="1E336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06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" y="48737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" y="53035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relationships, reduces friction, supports others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16552" y="4096512"/>
            <a:ext cx="3703320" cy="1847088"/>
          </a:xfrm>
          <a:prstGeom prst="rect">
            <a:avLst/>
          </a:prstGeom>
          <a:solidFill>
            <a:srgbClr val="1E336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6552" y="4206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81144" y="48737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81144" y="53035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Organises, delegates, tracks progress and deadlines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30184" y="4096512"/>
            <a:ext cx="3703320" cy="1847088"/>
          </a:xfrm>
          <a:prstGeom prst="rect">
            <a:avLst/>
          </a:prstGeom>
          <a:solidFill>
            <a:srgbClr val="1E3360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4206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494776" y="48737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94776" y="53035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detail, ensures quality at the end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</p:bldLst>
    </p:timin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ACROSS LEVELS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Collaborating Up, Down &amp; Sideways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703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70332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With Seniors / Managers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" y="2514600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" y="25146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with solutions, not just problems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2971800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9718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proactively — don't wait to be asked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" y="3429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their priorities before asking for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3886200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" y="3886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surprise them in front of others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16552" y="1874520"/>
            <a:ext cx="3703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1874520"/>
            <a:ext cx="3703320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53712" y="1874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With Peers / Teammates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81144" y="25146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25146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credit openly — thank people publicly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81144" y="29718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745736" y="29718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assuming what their work status is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81144" y="34290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745736" y="3429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mistakes without deflecting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81144" y="3886200"/>
            <a:ext cx="5486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745736" y="3886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team wins, not just your own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30184" y="1874520"/>
            <a:ext cx="3703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0184" y="1874520"/>
            <a:ext cx="370332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8467344" y="1874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With Juniors / Interns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94776" y="2514600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8659368" y="25146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 resource, not a gatekeeper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494776" y="2971800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659368" y="29718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'why', not just the 'what'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494776" y="3429000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8659368" y="3429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demean or dismiss their input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494776" y="3886200"/>
            <a:ext cx="5486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8659368" y="38862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juniors makes you better too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Conflict Without Burning Bridges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745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43000" y="187452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929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down first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80160" y="229514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angry, don't respond immediately. 24 hours can save a relationship.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0720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43000" y="2807208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862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1:1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80160" y="322783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escalate to public channels. Address conflict privately and directly.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739896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3989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43000" y="3739896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794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issue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want to discuss how we're dividing this task' — not 'you never help me.'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672584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67258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143000" y="4672584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4727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generously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80160" y="509320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positive intent until evidence proves otherwise. Ask questions.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605272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560527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43000" y="5605272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5660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path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80160" y="602589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specific, agreed next step. Not 'let's see' — actual actions.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011680" cy="38404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Challenge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40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 of 5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by department interest. You have 8 minutes.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7355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3273552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80160" y="369417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plan: your team has 2 weeks to launch a "college skills bootcamp." Assign roles.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611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4261104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315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90 seconds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presents. Others fill in gaps. Debrief: who naturally took what role?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248656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43000" y="5248656"/>
            <a:ext cx="10515600" cy="82296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5303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your instinct? Ideator? Organiser? Finisher? Are you surprised?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wins games, but teamwork and intelligence win championships.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Michael Jordan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What Would You Do?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55680" cy="1371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190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Who Gets Credit for the Idea?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 and her colleague Rohan worked together on a process improvement idea. In a team presentation, the manager says 'Great work Rohan — this was really clever.' Deepa contributed 60% of the idea but Rohan presented it and got all the credit.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should Deepa do — and what could both have done differently from the start?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Deepa raises it with Rohan first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meeting: 'Hey, I felt our collaboration wasn't fully visible to the team. Can we figure out how to represent joint work better next time?'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private, non-accusatory. Frames it as a future improvement not a past grievance. Relationships survive this; silent resentment doesn't.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858768"/>
            <a:ext cx="3657600" cy="2633472"/>
          </a:xfrm>
          <a:prstGeom prst="rect">
            <a:avLst/>
          </a:prstGeom>
          <a:solidFill>
            <a:srgbClr val="E8F8F0"/>
          </a:solidFill>
          <a:ln w="19050">
            <a:solidFill>
              <a:srgbClr val="C8E8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3858768"/>
            <a:ext cx="36576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 the meeting: Rohan says 'Deepa and I worked on this together'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537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proactively credits Deepa in front of the manager during the presentation.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people who build reputations do. Sharing credit costs you nothing and earns enormous loyalty. This is leadership before the title.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3858768"/>
            <a:ext cx="3657600" cy="2633472"/>
          </a:xfrm>
          <a:prstGeom prst="rect">
            <a:avLst/>
          </a:prstGeom>
          <a:solidFill>
            <a:srgbClr val="FFF0F0"/>
          </a:solidFill>
          <a:ln w="19050">
            <a:solidFill>
              <a:srgbClr val="F8C0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3858768"/>
            <a:ext cx="3657600" cy="38404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858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Deepa vents to other teammates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39912" y="4315968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two other colleagues after the meeting that Rohan 'stole her idea.'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39912" y="5413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39912" y="5669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now the person who complains about colleagues. Even if you're right, the behaviour overshadows the point. Address the source, not the surrounding audience.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</p:bldLst>
    </p:timin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Project Aristotle Finding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358140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the highest-performing teams from others at Google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 Project Aristotle, 2016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6720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200" y="1874520"/>
            <a:ext cx="358140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26720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 Safety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45008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IQ, not experience, not education — psychological safety was the single biggest factor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008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Amy Edmondson, Harvard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8576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5760" y="1874520"/>
            <a:ext cx="358140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98576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16864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leave: employees who don't feel safe speaking up at 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864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Gallup Q12 Survey 2023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55680" cy="1024128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532120"/>
            <a:ext cx="10835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best teams aren't filled with the smartest people. They're filled with people who can share half-baked ideas without fear. Build that, and the smarts take care of themselves.</a:t>
            </a:r>
            <a:endParaRPr lang="en-US" sz="15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</p:bldLst>
    </p:timing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IN PRACTICE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Conflict Resolved Step by Step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Two team members disagree on project priorities. Tensions are affecting daily standups.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59436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574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43000" y="2057400"/>
            <a:ext cx="25603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5740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down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2057400"/>
            <a:ext cx="7909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057400"/>
            <a:ext cx="7662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write their perspective privately. 24 hours before any conversation.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44368"/>
            <a:ext cx="594360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944368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43000" y="2944368"/>
            <a:ext cx="25603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94436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1:1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2944368"/>
            <a:ext cx="7909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944368"/>
            <a:ext cx="7662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'I'd like to understand your thinking on the priorities. Can we talk for 20 minutes?'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831336"/>
            <a:ext cx="594360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831336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143000" y="3831336"/>
            <a:ext cx="25603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831336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49040" y="3831336"/>
            <a:ext cx="7909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3831336"/>
            <a:ext cx="7662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'From my side, I'm seeing X as the blocker. Is that how you see it too?'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718304"/>
            <a:ext cx="59436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71830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143000" y="4718304"/>
            <a:ext cx="25603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718304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shared goal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749040" y="4718304"/>
            <a:ext cx="7909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4718304"/>
            <a:ext cx="7662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articulate the team's actual goal. Usually the conflict is HOW not WHAT.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5605272"/>
            <a:ext cx="594360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5605272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143000" y="5605272"/>
            <a:ext cx="256032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3" name="Text 31"/>
          <p:cNvSpPr/>
          <p:nvPr/>
        </p:nvSpPr>
        <p:spPr>
          <a:xfrm>
            <a:off x="1234440" y="560527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one action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749040" y="5605272"/>
            <a:ext cx="79095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5605272"/>
            <a:ext cx="7662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'We'll do X by Thursday and reassess. Does that work?' — Specific. Named. Deadline.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</p:bldLst>
    </p:timing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377440" cy="365760"/>
          </a:xfrm>
          <a:prstGeom prst="round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at Remote &amp; Hybrid 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job may be partly or fully remote. The rules of trust and visibility change when you're not in the room.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544068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Over-communicate — silence reads as absence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54787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 your camera on for the first 5 minutes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416966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Reply to messages within a few hours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7914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your work visible: share updates proactively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5413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 a clean, well-lit video setup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331720"/>
            <a:ext cx="5440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331720"/>
            <a:ext cx="544068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3317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multitask visibly on calls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54787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go dark when stuck — ask sooner, not later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416966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assume people know what you're doing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7914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skip virtual social moments entirely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5413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rely only on text — hop on a call when it's faster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2026-07-15T15:31:44Z</dcterms:created>
  <dcterms:modified xsi:type="dcterms:W3CDTF">2026-07-15T15:31:44Z</dcterms:modified>
</cp:coreProperties>
</file>