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4" r:id="rId15"/>
    <p:sldId id="265" r:id="rId16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3: Communication Skills
Time: 1:15 – 2:45 PM
Day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1645920" cy="384048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365760"/>
            <a:ext cx="1645920" cy="384048"/>
          </a:xfrm>
          <a:prstGeom prst="roundRect">
            <a:avLst/>
          </a:prstGeom>
          <a:solidFill>
            <a:srgbClr val="1E3360"/>
          </a:solidFill>
          <a:ln w="12700">
            <a:solidFill>
              <a:srgbClr val="1E33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365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– 2:45 PM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9601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48640" y="30358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say matters. How you say it matters more.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767328"/>
            <a:ext cx="11064240" cy="263347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D97706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93192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LEARN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" y="50292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outcomes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Speak clearly and concisely in any situation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Structure your thoughts before speaking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51023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Master active listening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Give and receive feedback gracefully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Navigate difficult conversations professionally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to Corporate Ready  ·  2-Day Workshop</a:t>
            </a:r>
            <a:endParaRPr lang="en-US" sz="10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</p:bldLst>
    </p:timing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Brilliant People Fail to Communicate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3703320" cy="44622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38528"/>
            <a:ext cx="3703320" cy="44622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14884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85800" y="33832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workplace failures are caused by poor communication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47548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Salesforce Research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16552" y="1938528"/>
            <a:ext cx="3703320" cy="44622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6552" y="1938528"/>
            <a:ext cx="3703320" cy="4462272"/>
          </a:xfrm>
          <a:prstGeom prst="rect">
            <a:avLst/>
          </a:prstGeom>
          <a:solidFill>
            <a:srgbClr val="D97706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416552" y="214884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599432" y="33832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say lack of recognition comes from unclear communication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9432" y="47548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Gallup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30184" y="1938528"/>
            <a:ext cx="3703320" cy="44622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1938528"/>
            <a:ext cx="3703320" cy="4462272"/>
          </a:xfrm>
          <a:prstGeom prst="rect">
            <a:avLst/>
          </a:prstGeom>
          <a:solidFill>
            <a:srgbClr val="D97706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330184" y="214884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8513064" y="33832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managers are not confident giving feedback to their team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13064" y="47548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HBR Survey</a:t>
            </a:r>
            <a:endParaRPr lang="en-US" sz="10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</p:bldLst>
    </p:timing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PREP Framework — Speak with Structure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822960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745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371600" y="1874520"/>
            <a:ext cx="2286000" cy="86868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03320" y="1874520"/>
            <a:ext cx="7955280" cy="86868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8745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your main message. Don't bury it at the end.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971800"/>
            <a:ext cx="822960" cy="868680"/>
          </a:xfrm>
          <a:prstGeom prst="rect">
            <a:avLst/>
          </a:prstGeom>
          <a:solidFill>
            <a:srgbClr val="E57C0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9718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371600" y="2971800"/>
            <a:ext cx="2286000" cy="86868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9718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703320" y="2971800"/>
            <a:ext cx="7955280" cy="86868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29718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point matter? Give your reasoning.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069080"/>
            <a:ext cx="822960" cy="868680"/>
          </a:xfrm>
          <a:prstGeom prst="rect">
            <a:avLst/>
          </a:prstGeom>
          <a:solidFill>
            <a:srgbClr val="C45E0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0690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1371600" y="4069080"/>
            <a:ext cx="2286000" cy="86868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4069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703320" y="4069080"/>
            <a:ext cx="7955280" cy="86868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40690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 with a specific, concrete example.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5166360"/>
            <a:ext cx="822960" cy="868680"/>
          </a:xfrm>
          <a:prstGeom prst="rect">
            <a:avLst/>
          </a:prstGeom>
          <a:solidFill>
            <a:srgbClr val="A3400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51663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1371600" y="5166360"/>
            <a:ext cx="2286000" cy="86868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6" name="Text 24"/>
          <p:cNvSpPr/>
          <p:nvPr/>
        </p:nvSpPr>
        <p:spPr>
          <a:xfrm>
            <a:off x="1463040" y="5166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703320" y="5166360"/>
            <a:ext cx="7955280" cy="86868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516636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 your point to close the loop clearly.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3093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Answer 'Tell me about a challenge you faced' using PREP.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Listening — The Overlooked Skill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562356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F0D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38528"/>
            <a:ext cx="7772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202996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speaker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441448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them. Put your phone away. Nod occasionally.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73368" y="1938528"/>
            <a:ext cx="562356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F0D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938528"/>
            <a:ext cx="7772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79208" y="202996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prepare your reply while they speak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79208" y="2441448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listen and plan your answer simultaneously.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419856"/>
            <a:ext cx="562356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F0D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19856"/>
            <a:ext cx="7772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clarifying questions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92277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help me understand what you mean by…?" shows engagement.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73368" y="3419856"/>
            <a:ext cx="562356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F0D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3419856"/>
            <a:ext cx="7772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79208" y="351129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 back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79208" y="392277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 back what you heard to confirm understanding.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4901184"/>
            <a:ext cx="562356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F0D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01184"/>
            <a:ext cx="7772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508760" y="499262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responding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540410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seconds of silence before you reply shows thought, not confusion.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73368" y="4901184"/>
            <a:ext cx="562356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F0D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4901184"/>
            <a:ext cx="7772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379208" y="499262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visible notes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79208" y="540410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down key points signals that what they said matters to you.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</p:bldLst>
    </p:timing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&amp; Receiving Feedback Like a Pro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440680" cy="4937760"/>
          </a:xfrm>
          <a:prstGeom prst="rect">
            <a:avLst/>
          </a:prstGeom>
          <a:solidFill>
            <a:srgbClr val="152242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645920"/>
            <a:ext cx="5440680" cy="4937760"/>
          </a:xfrm>
          <a:prstGeom prst="rect">
            <a:avLst/>
          </a:prstGeom>
          <a:solidFill>
            <a:srgbClr val="152242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45920"/>
            <a:ext cx="5440680" cy="4754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6459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Feedback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7512" y="2286000"/>
            <a:ext cx="5486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" y="22860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— not 'this is wrong', say what and why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" y="2743200"/>
            <a:ext cx="5486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" y="27432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behaviour, not personality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3200400"/>
            <a:ext cx="5486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" y="32004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'I noticed…' not 'You always…'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512" y="3657600"/>
            <a:ext cx="5486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" y="36576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SBI model: Situation → Behaviour → Impact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7512" y="4114800"/>
            <a:ext cx="5486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" y="41148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a forward-looking question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" y="4572000"/>
            <a:ext cx="5486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" y="45720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time and place — never public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1645920"/>
            <a:ext cx="5440680" cy="4754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16459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Feedback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82512" y="2286000"/>
            <a:ext cx="5486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6547104" y="22860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fully — don't defend mid-sentence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82512" y="2743200"/>
            <a:ext cx="5486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547104" y="27432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clarifying questions to understand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82512" y="3200400"/>
            <a:ext cx="5486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6547104" y="32004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'Thank you' even when it stings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82512" y="3657600"/>
            <a:ext cx="5486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6547104" y="36576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message from the emotion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82512" y="4114800"/>
            <a:ext cx="5486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6547104" y="41148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24 hours before responding if upset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82512" y="4572000"/>
            <a:ext cx="5486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6547104" y="45720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it — feedback ignored = trust lost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</p:bldLst>
    </p:timing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D9770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65760"/>
            <a:ext cx="2011680" cy="384048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ACTIVITY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Speaking Round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594360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860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143000" y="2286000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3408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prompt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270662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assigns a topic: "Describe a time you disagreed with someone."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273552"/>
            <a:ext cx="594360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7355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43000" y="3273552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3284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prep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80160" y="3694176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your answer using PREP: Point, Reason, Example, Point.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261104"/>
            <a:ext cx="594360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26110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43000" y="4261104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3159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in pairs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80160" y="468172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your partner for 90 seconds. They listen without interrupting.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248656"/>
            <a:ext cx="594360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24865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143000" y="5248656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5303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80160" y="566928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identifies: was the structure clear? What was most convincing?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</p:bldLst>
    </p:timing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1097280" y="1097280"/>
            <a:ext cx="9966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two ears and one mouth so that we can listen twice as much as we speak.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Epictetus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What Would You Do?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55680" cy="1371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190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Vikram's Email Goes Unanswered for 3 Days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1214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needs approval from a senior leader to proceed with a project step. He sends: 'Hi, wanted to check in about the project thing we discussed. Let me know if you have a moment.' Three days pass. No reply.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21868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went wrong — and what should the email have actually said?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858768"/>
            <a:ext cx="3657600" cy="2633472"/>
          </a:xfrm>
          <a:prstGeom prst="rect">
            <a:avLst/>
          </a:prstGeom>
          <a:solidFill>
            <a:srgbClr val="E8F8F0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858768"/>
            <a:ext cx="365760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What the email should have been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"Approval needed by Friday — Project X milestone 2"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[Name], I need your sign-off on the wireframe for Project X to keep our Nov 15 deadline. Attached. Can you confirm by Friday? Happy to discuss on a 15-min call.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subject line. Specific ask. Deadline. Attachment flagged. Easy yes or no. People respond to clear asks, not open-ended messages.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3858768"/>
            <a:ext cx="3657600" cy="2633472"/>
          </a:xfrm>
          <a:prstGeom prst="rect">
            <a:avLst/>
          </a:prstGeom>
          <a:solidFill>
            <a:srgbClr val="E8F8F0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3858768"/>
            <a:ext cx="365760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Following up correctly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537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Waited 48 hours, then replied to the same thread: 'Following up on the below — just want to ensure this doesn't block the team. Do let me know if you need more context.'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537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37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the same thread (context preserved). Acknowledge the delay without blame. Show awareness of team impact. This is professional escalation.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75320" y="3858768"/>
            <a:ext cx="3657600" cy="2633472"/>
          </a:xfrm>
          <a:prstGeom prst="rect">
            <a:avLst/>
          </a:prstGeom>
          <a:solidFill>
            <a:srgbClr val="FFF0F0"/>
          </a:solidFill>
          <a:ln w="19050">
            <a:solidFill>
              <a:srgbClr val="F8C0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5320" y="3858768"/>
            <a:ext cx="3657600" cy="38404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Sent the original email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399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subject. No specific ask. No deadline. No action required.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399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fails: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399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people skip vague emails. 'Let me know if you have a moment' means 'never' for a senior leader. The writer had no clear ask — so there was nothing to approve.</a:t>
            </a:r>
            <a:endParaRPr lang="en-US" sz="11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</p:bldLst>
    </p:timing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RESEARCH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Poor Communication Actually Costs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81400" cy="3474720"/>
          </a:xfrm>
          <a:prstGeom prst="rect">
            <a:avLst/>
          </a:prstGeom>
          <a:solidFill>
            <a:srgbClr val="152242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3581400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581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$62.4B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26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by US businesses annually due to poor internal communication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70248"/>
            <a:ext cx="326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SHRM / Holmes Report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67200" y="1874520"/>
            <a:ext cx="3581400" cy="3474720"/>
          </a:xfrm>
          <a:prstGeom prst="rect">
            <a:avLst/>
          </a:prstGeom>
          <a:solidFill>
            <a:srgbClr val="152242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7200" y="1874520"/>
            <a:ext cx="3581400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267200" y="2148840"/>
            <a:ext cx="3581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450080" y="3474720"/>
            <a:ext cx="326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per employee per day on unclear instructions and miscommunication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50080" y="4270248"/>
            <a:ext cx="326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Gallup Workplace Study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85760" y="1874520"/>
            <a:ext cx="3581400" cy="3474720"/>
          </a:xfrm>
          <a:prstGeom prst="rect">
            <a:avLst/>
          </a:prstGeom>
          <a:solidFill>
            <a:srgbClr val="152242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85760" y="1874520"/>
            <a:ext cx="3581400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7985760" y="2148840"/>
            <a:ext cx="3581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168640" y="3474720"/>
            <a:ext cx="326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be promoted: employees rated 'strong communicators' vs technical-only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68640" y="4270248"/>
            <a:ext cx="326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LinkedIn Talent Report 2023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5532120"/>
            <a:ext cx="11155680" cy="1024128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5532120"/>
            <a:ext cx="10835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Communication isn't a soft skill — it's the highest-leverage professional skill you can build. Every improvement compounds.</a:t>
            </a:r>
            <a:endParaRPr lang="en-US" sz="15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</p:bldLst>
    </p:timing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LANGUAGE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Don't Say Speaks Loudest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2029968"/>
            <a:ext cx="713232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029968"/>
            <a:ext cx="713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261872" y="2029968"/>
            <a:ext cx="2194560" cy="91440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029968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93008" y="2029968"/>
            <a:ext cx="4251960" cy="9144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121408"/>
            <a:ext cx="4005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Upright, leaning slightly forward — signals engagement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90688" y="2029968"/>
            <a:ext cx="3913632" cy="9144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12" name="Text 10"/>
          <p:cNvSpPr/>
          <p:nvPr/>
        </p:nvSpPr>
        <p:spPr>
          <a:xfrm>
            <a:off x="7909560" y="212140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B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Slumped, crossed arms — reads as boredom or defensiveness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145536"/>
            <a:ext cx="713232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145536"/>
            <a:ext cx="713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261872" y="3145536"/>
            <a:ext cx="2194560" cy="91440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14553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Contact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93008" y="3145536"/>
            <a:ext cx="4251960" cy="9144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3236976"/>
            <a:ext cx="4005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70% contact while listening, 50% while speaking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90688" y="3145536"/>
            <a:ext cx="3913632" cy="9144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323697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B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Constant staring or constant avoidance — both read as odd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4261104"/>
            <a:ext cx="713232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261104"/>
            <a:ext cx="713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🤲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1261872" y="4261104"/>
            <a:ext cx="2194560" cy="91440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4261104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93008" y="4261104"/>
            <a:ext cx="4251960" cy="9144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4352544"/>
            <a:ext cx="4005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Visible, open gestures — reinforce your words naturally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790688" y="4261104"/>
            <a:ext cx="3913632" cy="9144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28" name="Text 26"/>
          <p:cNvSpPr/>
          <p:nvPr/>
        </p:nvSpPr>
        <p:spPr>
          <a:xfrm>
            <a:off x="7909560" y="435254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B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Fidgeting, covering mouth, touching face — signals anxiety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5376672"/>
            <a:ext cx="713232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5376672"/>
            <a:ext cx="713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1261872" y="5376672"/>
            <a:ext cx="2194560" cy="91440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32" name="Text 30"/>
          <p:cNvSpPr/>
          <p:nvPr/>
        </p:nvSpPr>
        <p:spPr>
          <a:xfrm>
            <a:off x="1371600" y="537667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&amp; Tone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493008" y="5376672"/>
            <a:ext cx="4251960" cy="9144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4" name="Text 32"/>
          <p:cNvSpPr/>
          <p:nvPr/>
        </p:nvSpPr>
        <p:spPr>
          <a:xfrm>
            <a:off x="3611880" y="5468112"/>
            <a:ext cx="4005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Measured pace with intentional pauses — commands attention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790688" y="5376672"/>
            <a:ext cx="3913632" cy="9144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6" name="Text 34"/>
          <p:cNvSpPr/>
          <p:nvPr/>
        </p:nvSpPr>
        <p:spPr>
          <a:xfrm>
            <a:off x="7909560" y="546811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B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Rushing through content — perceived as nervousness or lack of prep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Albert Mehrabian's research: 55% of communication is body language, 38% is tone, only 7% is actual words.</a:t>
            </a:r>
            <a:endParaRPr lang="en-US" sz="10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50" fill="hold">
                        <p:stCondLst>
                          <p:cond delay="0"/>
                        </p:stCondLst>
                        <p:childTnLst>
                          <p:par>
                            <p:cTn id="351" presetID="2" presetClass="entr" presetSubtype="0" fill="hold" grpId="3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52" dur="50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60" fill="hold">
                        <p:stCondLst>
                          <p:cond delay="0"/>
                        </p:stCondLst>
                        <p:childTnLst>
                          <p:par>
                            <p:cTn id="361" presetID="2" presetClass="entr" presetSubtype="0" fill="hold" grpId="3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62" dur="500"/>
                                    <p:tgtEl>
                                      <p:spTgt spid="3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0" fill="hold">
                        <p:stCondLst>
                          <p:cond delay="0"/>
                        </p:stCondLst>
                        <p:childTnLst>
                          <p:par>
                            <p:cTn id="371" presetID="2" presetClass="entr" presetSubtype="0" fill="hold" grpId="3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72" dur="500"/>
                                    <p:tgtEl>
                                      <p:spTgt spid="3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  <p:bldP spid="35" grpId="33" uiExpand="1" build="p"/>
        <p:bldP spid="36" grpId="34" uiExpand="1" build="p"/>
        <p:bldP spid="37" grpId="35" uiExpand="1" build="p"/>
      </p:bldL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2026-07-15T15:31:44Z</dcterms:created>
  <dcterms:modified xsi:type="dcterms:W3CDTF">2026-07-15T15:31:44Z</dcterms:modified>
</cp:coreProperties>
</file>