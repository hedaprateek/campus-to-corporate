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13"/>
    <p:sldId id="263" r:id="rId14"/>
    <p:sldId id="264" r:id="rId15"/>
    <p:sldId id="265" r:id="rId1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10: Closing &amp;
Next Steps
Time: 5:00 – 6:00 PM
Day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0"/>
            <a:ext cx="3474720" cy="3200400"/>
          </a:xfrm>
          <a:prstGeom prst="rect">
            <a:avLst/>
          </a:prstGeom>
          <a:solidFill>
            <a:srgbClr val="CA8A04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65760"/>
            <a:ext cx="1645920" cy="384048"/>
          </a:xfrm>
          <a:prstGeom prst="round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365760"/>
            <a:ext cx="1645920" cy="384048"/>
          </a:xfrm>
          <a:prstGeom prst="roundRect">
            <a:avLst/>
          </a:prstGeom>
          <a:solidFill>
            <a:srgbClr val="1E3360"/>
          </a:solidFill>
          <a:ln w="12700">
            <a:solidFill>
              <a:srgbClr val="1E33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365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365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 – 6:00 PM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9601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&amp;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48640" y="30358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days. Ten sessions. One career, starting now.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767328"/>
            <a:ext cx="11064240" cy="2633472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767328"/>
            <a:ext cx="2743200" cy="2633472"/>
          </a:xfrm>
          <a:prstGeom prst="rect">
            <a:avLst/>
          </a:prstGeom>
          <a:solidFill>
            <a:srgbClr val="CA8A04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931920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LEARN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" y="502920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outcomes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Consolidate the full 2-day journey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Commit to your 30-day action plan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51023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Celebrate what you've built this week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0" y="39136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Leave with a clear and motivated next step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45079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Remember: the real work starts Monday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37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to Corporate Ready  ·  2-Day Workshop</a:t>
            </a:r>
            <a:endParaRPr lang="en-US" sz="10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</p:bldLst>
    </p:timing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JOURNEY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Sessions. 2 Days. One Transformation.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005840" cy="1920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920240"/>
            <a:ext cx="1005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00200" y="1920240"/>
            <a:ext cx="1920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1920240"/>
            <a:ext cx="1920240" cy="228600"/>
          </a:xfrm>
          <a:prstGeom prst="rect">
            <a:avLst/>
          </a:prstGeom>
          <a:solidFill>
            <a:srgbClr val="0EA5C8"/>
          </a:solidFill>
          <a:ln/>
        </p:spPr>
      </p:sp>
      <p:sp>
        <p:nvSpPr>
          <p:cNvPr id="9" name="Text 7"/>
          <p:cNvSpPr/>
          <p:nvPr/>
        </p:nvSpPr>
        <p:spPr>
          <a:xfrm>
            <a:off x="1600200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709928" y="2267712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World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721608" y="1920240"/>
            <a:ext cx="1920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21608" y="1920240"/>
            <a:ext cx="1920240" cy="228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3721608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31336" y="2267712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Etiquettes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843016" y="1920240"/>
            <a:ext cx="1920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43016" y="1920240"/>
            <a:ext cx="1920240" cy="228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5843016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52744" y="2267712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64424" y="1920240"/>
            <a:ext cx="1920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64424" y="1920240"/>
            <a:ext cx="1920240" cy="228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7964424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74152" y="2267712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085832" y="1920240"/>
            <a:ext cx="1920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85832" y="1920240"/>
            <a:ext cx="1920240" cy="2286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5" name="Text 23"/>
          <p:cNvSpPr/>
          <p:nvPr/>
        </p:nvSpPr>
        <p:spPr>
          <a:xfrm>
            <a:off x="10085832" y="19202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195560" y="2267712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Recap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160520"/>
            <a:ext cx="1005840" cy="1920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4160520"/>
            <a:ext cx="1005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600200" y="4160520"/>
            <a:ext cx="1920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00200" y="4160520"/>
            <a:ext cx="1920240" cy="2286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1" name="Text 29"/>
          <p:cNvSpPr/>
          <p:nvPr/>
        </p:nvSpPr>
        <p:spPr>
          <a:xfrm>
            <a:off x="1600200" y="4160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709928" y="4507992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Branding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721608" y="4160520"/>
            <a:ext cx="1920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1608" y="4160520"/>
            <a:ext cx="1920240" cy="2286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5" name="Text 33"/>
          <p:cNvSpPr/>
          <p:nvPr/>
        </p:nvSpPr>
        <p:spPr>
          <a:xfrm>
            <a:off x="3721608" y="4160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831336" y="4507992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Skills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843016" y="4160520"/>
            <a:ext cx="1920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43016" y="4160520"/>
            <a:ext cx="1920240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5843016" y="4160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952744" y="4507992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Mindset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964424" y="4160520"/>
            <a:ext cx="1920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64424" y="4160520"/>
            <a:ext cx="1920240" cy="228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1"/>
          <p:cNvSpPr/>
          <p:nvPr/>
        </p:nvSpPr>
        <p:spPr>
          <a:xfrm>
            <a:off x="7964424" y="4160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074152" y="4507992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Interviews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10085832" y="4160520"/>
            <a:ext cx="1920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85832" y="4160520"/>
            <a:ext cx="1920240" cy="22860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47" name="Text 45"/>
          <p:cNvSpPr/>
          <p:nvPr/>
        </p:nvSpPr>
        <p:spPr>
          <a:xfrm>
            <a:off x="10085832" y="41605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0195560" y="4507992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40" fill="hold">
                        <p:stCondLst>
                          <p:cond delay="0"/>
                        </p:stCondLst>
                        <p:childTnLst>
                          <p:par>
                            <p:cTn id="341" presetID="2" presetClass="entr" presetSubtype="0" fill="hold" grpId="3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42" dur="50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50" fill="hold">
                        <p:stCondLst>
                          <p:cond delay="0"/>
                        </p:stCondLst>
                        <p:childTnLst>
                          <p:par>
                            <p:cTn id="351" presetID="2" presetClass="entr" presetSubtype="0" fill="hold" grpId="3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52" dur="500"/>
                                    <p:tgtEl>
                                      <p:spTgt spid="3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60" fill="hold">
                        <p:stCondLst>
                          <p:cond delay="0"/>
                        </p:stCondLst>
                        <p:childTnLst>
                          <p:par>
                            <p:cTn id="361" presetID="2" presetClass="entr" presetSubtype="0" fill="hold" grpId="3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62" dur="500"/>
                                    <p:tgtEl>
                                      <p:spTgt spid="3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70" fill="hold">
                        <p:stCondLst>
                          <p:cond delay="0"/>
                        </p:stCondLst>
                        <p:childTnLst>
                          <p:par>
                            <p:cTn id="371" presetID="2" presetClass="entr" presetSubtype="0" fill="hold" grpId="3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72" dur="500"/>
                                    <p:tgtEl>
                                      <p:spTgt spid="3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80" fill="hold">
                        <p:stCondLst>
                          <p:cond delay="0"/>
                        </p:stCondLst>
                        <p:childTnLst>
                          <p:par>
                            <p:cTn id="381" presetID="2" presetClass="entr" presetSubtype="0" fill="hold" grpId="3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82" dur="500"/>
                                    <p:tgtEl>
                                      <p:spTgt spid="3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90" fill="hold">
                        <p:stCondLst>
                          <p:cond delay="0"/>
                        </p:stCondLst>
                        <p:childTnLst>
                          <p:par>
                            <p:cTn id="391" presetID="2" presetClass="entr" presetSubtype="0" fill="hold" grpId="3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92" dur="500"/>
                                    <p:tgtEl>
                                      <p:spTgt spid="3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0" fill="hold">
                        <p:stCondLst>
                          <p:cond delay="0"/>
                        </p:stCondLst>
                        <p:childTnLst>
                          <p:par>
                            <p:cTn id="401" presetID="2" presetClass="entr" presetSubtype="0" fill="hold" grpId="3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02" dur="500"/>
                                    <p:tgtEl>
                                      <p:spTgt spid="4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10" fill="hold">
                        <p:stCondLst>
                          <p:cond delay="0"/>
                        </p:stCondLst>
                        <p:childTnLst>
                          <p:par>
                            <p:cTn id="411" presetID="2" presetClass="entr" presetSubtype="0" fill="hold" grpId="3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12" dur="500"/>
                                    <p:tgtEl>
                                      <p:spTgt spid="4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20" fill="hold">
                        <p:stCondLst>
                          <p:cond delay="0"/>
                        </p:stCondLst>
                        <p:childTnLst>
                          <p:par>
                            <p:cTn id="421" presetID="2" presetClass="entr" presetSubtype="0" fill="hold" grpId="4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2" dur="500"/>
                                    <p:tgtEl>
                                      <p:spTgt spid="4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30" fill="hold">
                        <p:stCondLst>
                          <p:cond delay="0"/>
                        </p:stCondLst>
                        <p:childTnLst>
                          <p:par>
                            <p:cTn id="431" presetID="2" presetClass="entr" presetSubtype="0" fill="hold" grpId="4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32" dur="500"/>
                                    <p:tgtEl>
                                      <p:spTgt spid="4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40" fill="hold">
                        <p:stCondLst>
                          <p:cond delay="0"/>
                        </p:stCondLst>
                        <p:childTnLst>
                          <p:par>
                            <p:cTn id="441" presetID="2" presetClass="entr" presetSubtype="0" fill="hold" grpId="4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42" dur="500"/>
                                    <p:tgtEl>
                                      <p:spTgt spid="4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50" fill="hold">
                        <p:stCondLst>
                          <p:cond delay="0"/>
                        </p:stCondLst>
                        <p:childTnLst>
                          <p:par>
                            <p:cTn id="451" presetID="2" presetClass="entr" presetSubtype="0" fill="hold" grpId="4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52" dur="500"/>
                                    <p:tgtEl>
                                      <p:spTgt spid="4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60" fill="hold">
                        <p:stCondLst>
                          <p:cond delay="0"/>
                        </p:stCondLst>
                        <p:childTnLst>
                          <p:par>
                            <p:cTn id="461" presetID="2" presetClass="entr" presetSubtype="0" fill="hold" grpId="4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62" dur="500"/>
                                    <p:tgtEl>
                                      <p:spTgt spid="4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70" fill="hold">
                        <p:stCondLst>
                          <p:cond delay="0"/>
                        </p:stCondLst>
                        <p:childTnLst>
                          <p:par>
                            <p:cTn id="471" presetID="2" presetClass="entr" presetSubtype="0" fill="hold" grpId="4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72" dur="500"/>
                                    <p:tgtEl>
                                      <p:spTgt spid="4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80" fill="hold">
                        <p:stCondLst>
                          <p:cond delay="0"/>
                        </p:stCondLst>
                        <p:childTnLst>
                          <p:par>
                            <p:cTn id="481" presetID="2" presetClass="entr" presetSubtype="0" fill="hold" grpId="4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82" dur="500"/>
                                    <p:tgtEl>
                                      <p:spTgt spid="4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  <p:bldP spid="34" grpId="32" uiExpand="1" build="p"/>
        <p:bldP spid="35" grpId="33" uiExpand="1" build="p"/>
        <p:bldP spid="36" grpId="34" uiExpand="1" build="p"/>
        <p:bldP spid="37" grpId="35" uiExpand="1" build="p"/>
        <p:bldP spid="38" grpId="36" uiExpand="1" build="p"/>
        <p:bldP spid="39" grpId="37" uiExpand="1" build="p"/>
        <p:bldP spid="40" grpId="38" uiExpand="1" build="p"/>
        <p:bldP spid="41" grpId="39" uiExpand="1" build="p"/>
        <p:bldP spid="42" grpId="40" uiExpand="1" build="p"/>
        <p:bldP spid="43" grpId="41" uiExpand="1" build="p"/>
        <p:bldP spid="44" grpId="42" uiExpand="1" build="p"/>
        <p:bldP spid="45" grpId="43" uiExpand="1" build="p"/>
        <p:bldP spid="46" grpId="44" uiExpand="1" build="p"/>
        <p:bldP spid="47" grpId="45" uiExpand="1" build="p"/>
        <p:bldP spid="48" grpId="46" uiExpand="1" build="p"/>
      </p:bldLst>
    </p:timing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30-Day Campus to Corporate Sprint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743200" cy="4681728"/>
          </a:xfrm>
          <a:prstGeom prst="rect">
            <a:avLst/>
          </a:prstGeom>
          <a:solidFill>
            <a:srgbClr val="152242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2743200" cy="41148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0779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Update LinkedIn with new headline + skills + summary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95935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Ask 2 seniors for a LinkedIn recommendation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01091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Research 5 target companies in your domain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47288" y="1874520"/>
            <a:ext cx="2743200" cy="4681728"/>
          </a:xfrm>
          <a:prstGeom prst="rect">
            <a:avLst/>
          </a:prstGeom>
          <a:solidFill>
            <a:srgbClr val="152242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7288" y="1874520"/>
            <a:ext cx="2743200" cy="41148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4" name="Text 12"/>
          <p:cNvSpPr/>
          <p:nvPr/>
        </p:nvSpPr>
        <p:spPr>
          <a:xfrm>
            <a:off x="3447288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84448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Practice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84448" y="290779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Join a debate club or Toastmasters group on campus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84448" y="395935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Record yourself answering 3 interview questions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84448" y="501091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Send 1 cold LinkedIn message to a professional you admire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91656" y="1874520"/>
            <a:ext cx="2743200" cy="4681728"/>
          </a:xfrm>
          <a:prstGeom prst="rect">
            <a:avLst/>
          </a:prstGeom>
          <a:solidFill>
            <a:srgbClr val="152242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1656" y="1874520"/>
            <a:ext cx="2743200" cy="41148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21" name="Text 19"/>
          <p:cNvSpPr/>
          <p:nvPr/>
        </p:nvSpPr>
        <p:spPr>
          <a:xfrm>
            <a:off x="6391656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28816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&amp; Applications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28816" y="290779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Final resume — send to 3 people for review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28816" y="395935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Tailor it for 3 different job descriptions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28816" y="501091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Apply to 5 companies / 2 internships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336024" y="1874520"/>
            <a:ext cx="2743200" cy="4681728"/>
          </a:xfrm>
          <a:prstGeom prst="rect">
            <a:avLst/>
          </a:prstGeom>
          <a:solidFill>
            <a:srgbClr val="152242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36024" y="1874520"/>
            <a:ext cx="2743200" cy="41148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28" name="Text 26"/>
          <p:cNvSpPr/>
          <p:nvPr/>
        </p:nvSpPr>
        <p:spPr>
          <a:xfrm>
            <a:off x="9336024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73184" y="2331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Readiness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73184" y="290779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 3 mock interviews with different people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73184" y="395935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Prepare 5 STAR stories — write them down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473184" y="5010912"/>
            <a:ext cx="2468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Set your Day 1 intention for your first job</a:t>
            </a:r>
            <a:endParaRPr lang="en-US" sz="12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</p:bldLst>
    </p:timing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Your Commitment Card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0789920" cy="4663440"/>
          </a:xfrm>
          <a:prstGeom prst="rect">
            <a:avLst/>
          </a:prstGeom>
          <a:solidFill>
            <a:srgbClr val="FFFEF5"/>
          </a:solidFill>
          <a:ln w="25400">
            <a:solidFill>
              <a:srgbClr val="CA8A0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385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COMMITMENT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54203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skill I will practice every day this month: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2907792"/>
            <a:ext cx="9601200" cy="18288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2918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person I will reach out to on LinkedIn this week: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3657600"/>
            <a:ext cx="9601200" cy="18288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4164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I will research and apply to first: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4407408"/>
            <a:ext cx="9601200" cy="18288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791456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bad habit I will stop — starting today: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0120" y="5157216"/>
            <a:ext cx="9601200" cy="18288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541264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I am most grateful for from this workshop: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5907024"/>
            <a:ext cx="9601200" cy="18288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6053328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_________________________________   Date: ________________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</p:bldLst>
    </p:timing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CA8A04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73152" cy="73152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173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degree proves you can learn. The job proves you can deliver.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73152" cy="73152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4231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was 'ready' for their first job. Readiness is built on the job.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3429000"/>
            <a:ext cx="73152" cy="73152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4290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who gets promoted is not always the smartest — it's the most consistent.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4434840"/>
            <a:ext cx="73152" cy="73152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44348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year is your most important impression — and your best opportunity.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5440680"/>
            <a:ext cx="73152" cy="73152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senior you admire was once sitting exactly where you are right now.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go. You're ready.</a:t>
            </a:r>
            <a:endParaRPr lang="en-US" sz="18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</p:bldLst>
    </p:timing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CA8A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1097280" y="1097280"/>
            <a:ext cx="9966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secret of getting ahead is getting started.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Mark Twain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PRIORITY LIST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Actions — Start This Week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94360" cy="749808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96596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43000" y="1965960"/>
            <a:ext cx="4389120" cy="74980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196596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LinkedIn headline today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577840" y="1965960"/>
            <a:ext cx="608076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0" name="Text 8"/>
          <p:cNvSpPr/>
          <p:nvPr/>
        </p:nvSpPr>
        <p:spPr>
          <a:xfrm>
            <a:off x="5687568" y="196596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6-second test. This is what recruiter's see first.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594360" cy="749808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88036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143000" y="2880360"/>
            <a:ext cx="4389120" cy="74980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14" name="Text 12"/>
          <p:cNvSpPr/>
          <p:nvPr/>
        </p:nvSpPr>
        <p:spPr>
          <a:xfrm>
            <a:off x="1261872" y="288036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5 STAR stories and save them in a doc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577840" y="2880360"/>
            <a:ext cx="608076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6" name="Text 14"/>
          <p:cNvSpPr/>
          <p:nvPr/>
        </p:nvSpPr>
        <p:spPr>
          <a:xfrm>
            <a:off x="5687568" y="288036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You'll forget them. Having them written means instant access in any interview.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794760"/>
            <a:ext cx="594360" cy="749808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79476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143000" y="3794760"/>
            <a:ext cx="4389120" cy="74980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0" name="Text 18"/>
          <p:cNvSpPr/>
          <p:nvPr/>
        </p:nvSpPr>
        <p:spPr>
          <a:xfrm>
            <a:off x="1261872" y="379476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yourself answering 'Tell me about yourself'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577840" y="3794760"/>
            <a:ext cx="608076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2" name="Text 20"/>
          <p:cNvSpPr/>
          <p:nvPr/>
        </p:nvSpPr>
        <p:spPr>
          <a:xfrm>
            <a:off x="5687568" y="379476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You'll hear your own filler words. Nothing fixes a habit faster than hearing it.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4709160"/>
            <a:ext cx="594360" cy="749808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70916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143000" y="4709160"/>
            <a:ext cx="4389120" cy="74980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26" name="Text 24"/>
          <p:cNvSpPr/>
          <p:nvPr/>
        </p:nvSpPr>
        <p:spPr>
          <a:xfrm>
            <a:off x="1261872" y="470916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1 senior for a LinkedIn recommendation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577840" y="4709160"/>
            <a:ext cx="608076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8" name="Text 26"/>
          <p:cNvSpPr/>
          <p:nvPr/>
        </p:nvSpPr>
        <p:spPr>
          <a:xfrm>
            <a:off x="5687568" y="470916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Most freshers don't. The ones who do stand out immediately.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5623560"/>
            <a:ext cx="594360" cy="749808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562356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143000" y="5623560"/>
            <a:ext cx="4389120" cy="749808"/>
          </a:xfrm>
          <a:prstGeom prst="rect">
            <a:avLst/>
          </a:prstGeom>
          <a:solidFill>
            <a:srgbClr val="1E3360"/>
          </a:solidFill>
          <a:ln/>
        </p:spPr>
      </p:sp>
      <p:sp>
        <p:nvSpPr>
          <p:cNvPr id="32" name="Text 30"/>
          <p:cNvSpPr/>
          <p:nvPr/>
        </p:nvSpPr>
        <p:spPr>
          <a:xfrm>
            <a:off x="1261872" y="562356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3 companies you'd actually want to work at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577840" y="5623560"/>
            <a:ext cx="6080760" cy="74980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34" name="Text 32"/>
          <p:cNvSpPr/>
          <p:nvPr/>
        </p:nvSpPr>
        <p:spPr>
          <a:xfrm>
            <a:off x="5687568" y="562356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Vague job hunting = vague results. Specific targets = tailored applications.</a:t>
            </a:r>
            <a:endParaRPr lang="en-US" sz="12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10" fill="hold">
                        <p:stCondLst>
                          <p:cond delay="0"/>
                        </p:stCondLst>
                        <p:childTnLst>
                          <p:par>
                            <p:cTn id="211" presetID="2" presetClass="entr" presetSubtype="0" fill="hold" grpId="1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12" dur="500"/>
                                    <p:tgtEl>
                                      <p:spTgt spid="2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20" fill="hold">
                        <p:stCondLst>
                          <p:cond delay="0"/>
                        </p:stCondLst>
                        <p:childTnLst>
                          <p:par>
                            <p:cTn id="221" presetID="2" presetClass="entr" presetSubtype="0" fill="hold" grpId="2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2" dur="500"/>
                                    <p:tgtEl>
                                      <p:spTgt spid="2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30" fill="hold">
                        <p:stCondLst>
                          <p:cond delay="0"/>
                        </p:stCondLst>
                        <p:childTnLst>
                          <p:par>
                            <p:cTn id="231" presetID="2" presetClass="entr" presetSubtype="0" fill="hold" grpId="2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32" dur="500"/>
                                    <p:tgtEl>
                                      <p:spTgt spid="2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40" fill="hold">
                        <p:stCondLst>
                          <p:cond delay="0"/>
                        </p:stCondLst>
                        <p:childTnLst>
                          <p:par>
                            <p:cTn id="241" presetID="2" presetClass="entr" presetSubtype="0" fill="hold" grpId="2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42" dur="500"/>
                                    <p:tgtEl>
                                      <p:spTgt spid="2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50" fill="hold">
                        <p:stCondLst>
                          <p:cond delay="0"/>
                        </p:stCondLst>
                        <p:childTnLst>
                          <p:par>
                            <p:cTn id="251" presetID="2" presetClass="entr" presetSubtype="0" fill="hold" grpId="2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52" dur="500"/>
                                    <p:tgtEl>
                                      <p:spTgt spid="2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60" fill="hold">
                        <p:stCondLst>
                          <p:cond delay="0"/>
                        </p:stCondLst>
                        <p:childTnLst>
                          <p:par>
                            <p:cTn id="261" presetID="2" presetClass="entr" presetSubtype="0" fill="hold" grpId="2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62" dur="500"/>
                                    <p:tgtEl>
                                      <p:spTgt spid="2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70" fill="hold">
                        <p:stCondLst>
                          <p:cond delay="0"/>
                        </p:stCondLst>
                        <p:childTnLst>
                          <p:par>
                            <p:cTn id="271" presetID="2" presetClass="entr" presetSubtype="0" fill="hold" grpId="2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72" dur="500"/>
                                    <p:tgtEl>
                                      <p:spTgt spid="2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80" fill="hold">
                        <p:stCondLst>
                          <p:cond delay="0"/>
                        </p:stCondLst>
                        <p:childTnLst>
                          <p:par>
                            <p:cTn id="281" presetID="2" presetClass="entr" presetSubtype="0" fill="hold" grpId="2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82" dur="500"/>
                                    <p:tgtEl>
                                      <p:spTgt spid="2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90" fill="hold">
                        <p:stCondLst>
                          <p:cond delay="0"/>
                        </p:stCondLst>
                        <p:childTnLst>
                          <p:par>
                            <p:cTn id="291" presetID="2" presetClass="entr" presetSubtype="0" fill="hold" grpId="2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92" dur="500"/>
                                    <p:tgtEl>
                                      <p:spTgt spid="2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0" fill="hold">
                        <p:stCondLst>
                          <p:cond delay="0"/>
                        </p:stCondLst>
                        <p:childTnLst>
                          <p:par>
                            <p:cTn id="301" presetID="2" presetClass="entr" presetSubtype="0" fill="hold" grpId="2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02" dur="500"/>
                                    <p:tgtEl>
                                      <p:spTgt spid="3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10" fill="hold">
                        <p:stCondLst>
                          <p:cond delay="0"/>
                        </p:stCondLst>
                        <p:childTnLst>
                          <p:par>
                            <p:cTn id="311" presetID="2" presetClass="entr" presetSubtype="0" fill="hold" grpId="2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12" dur="500"/>
                                    <p:tgtEl>
                                      <p:spTgt spid="3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20" fill="hold">
                        <p:stCondLst>
                          <p:cond delay="0"/>
                        </p:stCondLst>
                        <p:childTnLst>
                          <p:par>
                            <p:cTn id="321" presetID="2" presetClass="entr" presetSubtype="0" fill="hold" grpId="3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2" dur="500"/>
                                    <p:tgtEl>
                                      <p:spTgt spid="3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30" fill="hold">
                        <p:stCondLst>
                          <p:cond delay="0"/>
                        </p:stCondLst>
                        <p:childTnLst>
                          <p:par>
                            <p:cTn id="331" presetID="2" presetClass="entr" presetSubtype="0" fill="hold" grpId="3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32" dur="500"/>
                                    <p:tgtEl>
                                      <p:spTgt spid="3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40" fill="hold">
                        <p:stCondLst>
                          <p:cond delay="0"/>
                        </p:stCondLst>
                        <p:childTnLst>
                          <p:par>
                            <p:cTn id="341" presetID="2" presetClass="entr" presetSubtype="0" fill="hold" grpId="3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42" dur="500"/>
                                    <p:tgtEl>
                                      <p:spTgt spid="3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  <p:bldP spid="21" grpId="19" uiExpand="1" build="p"/>
        <p:bldP spid="22" grpId="20" uiExpand="1" build="p"/>
        <p:bldP spid="23" grpId="21" uiExpand="1" build="p"/>
        <p:bldP spid="24" grpId="22" uiExpand="1" build="p"/>
        <p:bldP spid="25" grpId="23" uiExpand="1" build="p"/>
        <p:bldP spid="26" grpId="24" uiExpand="1" build="p"/>
        <p:bldP spid="27" grpId="25" uiExpand="1" build="p"/>
        <p:bldP spid="28" grpId="26" uiExpand="1" build="p"/>
        <p:bldP spid="29" grpId="27" uiExpand="1" build="p"/>
        <p:bldP spid="30" grpId="28" uiExpand="1" build="p"/>
        <p:bldP spid="31" grpId="29" uiExpand="1" build="p"/>
        <p:bldP spid="32" grpId="30" uiExpand="1" build="p"/>
        <p:bldP spid="33" grpId="31" uiExpand="1" build="p"/>
        <p:bldP spid="34" grpId="32" uiExpand="1" build="p"/>
      </p:bldLst>
    </p:timing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50" kern="0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THOUGHT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Behind. You Are Beginning.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1064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professional you admire was once exactly where you are. The gap between where you are and where you want to be is filled with consistent daily action — not talent.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724912"/>
            <a:ext cx="53949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724912"/>
            <a:ext cx="777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25880" y="2724912"/>
            <a:ext cx="44074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 isn't the destination — it's the beginning of a much longer and more interesting journey.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724912"/>
            <a:ext cx="53949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2724912"/>
            <a:ext cx="777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086600" y="2724912"/>
            <a:ext cx="44074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salary doesn't define your career. Your learning rate in Year 1 does.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4443984"/>
            <a:ext cx="53949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443984"/>
            <a:ext cx="777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25880" y="4443984"/>
            <a:ext cx="44074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relationships you build in the first 5 years of your career will shape the next 30.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63640" y="4443984"/>
            <a:ext cx="539496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4443984"/>
            <a:ext cx="777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086600" y="4443984"/>
            <a:ext cx="44074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skill in the next decade isn't AI literacy or coding — it's the ability to keep learning.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383280" y="6163056"/>
            <a:ext cx="539496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8A0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6163056"/>
            <a:ext cx="777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187952" y="6163056"/>
            <a:ext cx="4462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spent two days preparing. Most of your peers didn't. That is already a competitive edge.</a:t>
            </a:r>
            <a:endParaRPr lang="en-US" sz="135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20" fill="hold">
                        <p:stCondLst>
                          <p:cond delay="0"/>
                        </p:stCondLst>
                        <p:childTnLst>
                          <p:par>
                            <p:cTn id="121" presetID="2" presetClass="entr" presetSubtype="0" fill="hold" grpId="1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22" dur="500"/>
                                    <p:tgtEl>
                                      <p:spTgt spid="1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30" fill="hold">
                        <p:stCondLst>
                          <p:cond delay="0"/>
                        </p:stCondLst>
                        <p:childTnLst>
                          <p:par>
                            <p:cTn id="131" presetID="2" presetClass="entr" presetSubtype="0" fill="hold" grpId="1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32" dur="500"/>
                                    <p:tgtEl>
                                      <p:spTgt spid="1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40" fill="hold">
                        <p:stCondLst>
                          <p:cond delay="0"/>
                        </p:stCondLst>
                        <p:childTnLst>
                          <p:par>
                            <p:cTn id="141" presetID="2" presetClass="entr" presetSubtype="0" fill="hold" grpId="1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42" dur="500"/>
                                    <p:tgtEl>
                                      <p:spTgt spid="1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50" fill="hold">
                        <p:stCondLst>
                          <p:cond delay="0"/>
                        </p:stCondLst>
                        <p:childTnLst>
                          <p:par>
                            <p:cTn id="151" presetID="2" presetClass="entr" presetSubtype="0" fill="hold" grpId="1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52" dur="500"/>
                                    <p:tgtEl>
                                      <p:spTgt spid="1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60" fill="hold">
                        <p:stCondLst>
                          <p:cond delay="0"/>
                        </p:stCondLst>
                        <p:childTnLst>
                          <p:par>
                            <p:cTn id="161" presetID="2" presetClass="entr" presetSubtype="0" fill="hold" grpId="1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62" dur="500"/>
                                    <p:tgtEl>
                                      <p:spTgt spid="1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70" fill="hold">
                        <p:stCondLst>
                          <p:cond delay="0"/>
                        </p:stCondLst>
                        <p:childTnLst>
                          <p:par>
                            <p:cTn id="171" presetID="2" presetClass="entr" presetSubtype="0" fill="hold" grpId="1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72" dur="500"/>
                                    <p:tgtEl>
                                      <p:spTgt spid="1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80" fill="hold">
                        <p:stCondLst>
                          <p:cond delay="0"/>
                        </p:stCondLst>
                        <p:childTnLst>
                          <p:par>
                            <p:cTn id="181" presetID="2" presetClass="entr" presetSubtype="0" fill="hold" grpId="1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82" dur="500"/>
                                    <p:tgtEl>
                                      <p:spTgt spid="1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90" fill="hold">
                        <p:stCondLst>
                          <p:cond delay="0"/>
                        </p:stCondLst>
                        <p:childTnLst>
                          <p:par>
                            <p:cTn id="191" presetID="2" presetClass="entr" presetSubtype="0" fill="hold" grpId="1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92" dur="500"/>
                                    <p:tgtEl>
                                      <p:spTgt spid="1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200" fill="hold">
                        <p:stCondLst>
                          <p:cond delay="0"/>
                        </p:stCondLst>
                        <p:childTnLst>
                          <p:par>
                            <p:cTn id="201" presetID="2" presetClass="entr" presetSubtype="0" fill="hold" grpId="1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02" dur="500"/>
                                    <p:tgtEl>
                                      <p:spTgt spid="2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  <p:bldP spid="12" grpId="10" uiExpand="1" build="p"/>
        <p:bldP spid="13" grpId="11" uiExpand="1" build="p"/>
        <p:bldP spid="14" grpId="12" uiExpand="1" build="p"/>
        <p:bldP spid="15" grpId="13" uiExpand="1" build="p"/>
        <p:bldP spid="16" grpId="14" uiExpand="1" build="p"/>
        <p:bldP spid="17" grpId="15" uiExpand="1" build="p"/>
        <p:bldP spid="18" grpId="16" uiExpand="1" build="p"/>
        <p:bldP spid="19" grpId="17" uiExpand="1" build="p"/>
        <p:bldP spid="20" grpId="18" uiExpand="1" build="p"/>
      </p:bldLst>
    </p:timing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CA8A04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66928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A8A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1938528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showed up for two full days. You did the activities. You stayed present.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already puts you ahead of 80% of your peers.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035808"/>
            <a:ext cx="11064240" cy="18288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46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touch — we mean 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767328"/>
            <a:ext cx="2560320" cy="56692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376732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team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54680" y="3767328"/>
            <a:ext cx="845820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3273552" y="37673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trainer on LinkedIn today.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425696"/>
            <a:ext cx="2560320" cy="56692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44256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workshop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54680" y="4425696"/>
            <a:ext cx="845820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5" name="Text 13"/>
          <p:cNvSpPr/>
          <p:nvPr/>
        </p:nvSpPr>
        <p:spPr>
          <a:xfrm>
            <a:off x="3273552" y="442569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us @[handle] when you get your first job.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84064"/>
            <a:ext cx="2560320" cy="56692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508406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54680" y="5084064"/>
            <a:ext cx="845820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9" name="Text 17"/>
          <p:cNvSpPr/>
          <p:nvPr/>
        </p:nvSpPr>
        <p:spPr>
          <a:xfrm>
            <a:off x="3273552" y="5084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WhatsApp numbers now. This network is worth more than a degree.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742432"/>
            <a:ext cx="2560320" cy="566928"/>
          </a:xfrm>
          <a:prstGeom prst="rect">
            <a:avLst/>
          </a:prstGeom>
          <a:solidFill>
            <a:srgbClr val="152242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57424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back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154680" y="5742432"/>
            <a:ext cx="8458200" cy="56692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3" name="Text 21"/>
          <p:cNvSpPr/>
          <p:nvPr/>
        </p:nvSpPr>
        <p:spPr>
          <a:xfrm>
            <a:off x="3273552" y="57424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question 6 months from now? Reach out. We genuinely want to hear how it went.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to Corporate Ready — Workshop Complete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1828800"/>
            <a:ext cx="5486400" cy="5486400"/>
          </a:xfrm>
          <a:prstGeom prst="ellipse">
            <a:avLst/>
          </a:prstGeom>
          <a:solidFill>
            <a:srgbClr val="CA8A0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548640"/>
            <a:ext cx="3108960" cy="411480"/>
          </a:xfrm>
          <a:prstGeom prst="round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0" y="548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BEFORE YOU 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0" y="146304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Last Thing:</a:t>
            </a:r>
            <a:endParaRPr lang="en-US" sz="42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Feedback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852160" y="34290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seconds. Scan, rate, and tell us what landed. It shapes the next workshop — and it matters.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52160" y="5212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i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link this QR to your own feedback form.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1737360"/>
            <a:ext cx="3291840" cy="32918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0" descr="/home/claude/c2c/prep/qr_feedb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65960"/>
            <a:ext cx="2834640" cy="2834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5074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give feedback</a:t>
            </a:r>
            <a:endParaRPr lang="en-US" sz="1400" dirty="0"/>
          </a:p>
        </p:txBody>
      </p:sp>
    </p:spTree>
    <p:timing>
      <p:tnLst>
        <p:par>
          <p:cTn id="1" dur="indefinite" restart="whenNotActive" nodeType="tmRoot">
            <p:childTnLst>
              <p:seq concurrent="1" nextAc="seek">
                <p:cTn id="2" dur="indefinite" nodeType="mainSeq">
                  <p:childTnLst>
                    <p:par>
                      <p:cTn id="20" fill="hold">
                        <p:stCondLst>
                          <p:cond delay="0"/>
                        </p:stCondLst>
                        <p:childTnLst>
                          <p:par>
                            <p:cTn id="21" presetID="2" presetClass="entr" presetSubtype="0" fill="hold" grpId="0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22" dur="500"/>
                                    <p:tgtEl>
                                      <p:spTgt spid="2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30" fill="hold">
                        <p:stCondLst>
                          <p:cond delay="0"/>
                        </p:stCondLst>
                        <p:childTnLst>
                          <p:par>
                            <p:cTn id="31" presetID="2" presetClass="entr" presetSubtype="0" fill="hold" grpId="1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32" dur="500"/>
                                    <p:tgtEl>
                                      <p:spTgt spid="3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40" fill="hold">
                        <p:stCondLst>
                          <p:cond delay="0"/>
                        </p:stCondLst>
                        <p:childTnLst>
                          <p:par>
                            <p:cTn id="41" presetID="2" presetClass="entr" presetSubtype="0" fill="hold" grpId="2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42" dur="500"/>
                                    <p:tgtEl>
                                      <p:spTgt spid="4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50" fill="hold">
                        <p:stCondLst>
                          <p:cond delay="0"/>
                        </p:stCondLst>
                        <p:childTnLst>
                          <p:par>
                            <p:cTn id="51" presetID="2" presetClass="entr" presetSubtype="0" fill="hold" grpId="3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52" dur="500"/>
                                    <p:tgtEl>
                                      <p:spTgt spid="5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60" fill="hold">
                        <p:stCondLst>
                          <p:cond delay="0"/>
                        </p:stCondLst>
                        <p:childTnLst>
                          <p:par>
                            <p:cTn id="61" presetID="2" presetClass="entr" presetSubtype="0" fill="hold" grpId="4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62" dur="500"/>
                                    <p:tgtEl>
                                      <p:spTgt spid="6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70" fill="hold">
                        <p:stCondLst>
                          <p:cond delay="0"/>
                        </p:stCondLst>
                        <p:childTnLst>
                          <p:par>
                            <p:cTn id="71" presetID="2" presetClass="entr" presetSubtype="0" fill="hold" grpId="5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72" dur="500"/>
                                    <p:tgtEl>
                                      <p:spTgt spid="7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80" fill="hold">
                        <p:stCondLst>
                          <p:cond delay="0"/>
                        </p:stCondLst>
                        <p:childTnLst>
                          <p:par>
                            <p:cTn id="81" presetID="2" presetClass="entr" presetSubtype="0" fill="hold" grpId="6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82" dur="500"/>
                                    <p:tgtEl>
                                      <p:spTgt spid="8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90" fill="hold">
                        <p:stCondLst>
                          <p:cond delay="0"/>
                        </p:stCondLst>
                        <p:childTnLst>
                          <p:par>
                            <p:cTn id="91" presetID="2" presetClass="entr" presetSubtype="0" fill="hold" grpId="7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92" dur="500"/>
                                    <p:tgtEl>
                                      <p:spTgt spid="9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00" fill="hold">
                        <p:stCondLst>
                          <p:cond delay="0"/>
                        </p:stCondLst>
                        <p:childTnLst>
                          <p:par>
                            <p:cTn id="101" presetID="2" presetClass="entr" presetSubtype="0" fill="hold" grpId="8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02" dur="500"/>
                                    <p:tgtEl>
                                      <p:spTgt spid="10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  <p:par>
                      <p:cTn id="110" fill="hold">
                        <p:stCondLst>
                          <p:cond delay="0"/>
                        </p:stCondLst>
                        <p:childTnLst>
                          <p:par>
                            <p:cTn id="111" presetID="2" presetClass="entr" presetSubtype="0" fill="hold" grpId="9" nodeType="clickEffect">
                              <p:stCondLst>
                                <p:cond delay="0"/>
                              </p:stCondLst>
                              <p:childTnLst>
                                <p:animEffect transition="in" filter="fade">
                                  <p:cBhvr>
                                    <p:cTn id="112" dur="500"/>
                                    <p:tgtEl>
                                      <p:spTgt spid="11"/>
                                    </p:tgtEl>
                                  </p:cBhvr>
                                </p:animEffect>
                              </p:childTnLst>
                            </p:cTn>
                          </p:par>
                        </p:childTnLst>
                      </p:cTn>
                    </p:par>
                  </p:childTnLst>
                </p:cTn>
                <p:prevCondLst>
                  <p:cond evt="onPrevClick" delay="0">
                    <p:tn/>
                  </p:cond>
                </p:prevCondLst>
                <p:nextCondLst>
                  <p:cond evt="onNextClick" delay="0">
                    <p:tn/>
                  </p:cond>
                </p:nextCondLst>
              </p:seq>
            </p:childTnLst>
          </p:cTn>
        </p:par>
      </p:tnLst>
      <p:bldLst>
        <p:bldP spid="2" grpId="0" uiExpand="1" build="p"/>
        <p:bldP spid="3" grpId="1" uiExpand="1" build="p"/>
        <p:bldP spid="4" grpId="2" uiExpand="1" build="p"/>
        <p:bldP spid="5" grpId="3" uiExpand="1" build="p"/>
        <p:bldP spid="6" grpId="4" uiExpand="1" build="p"/>
        <p:bldP spid="7" grpId="5" uiExpand="1" build="p"/>
        <p:bldP spid="8" grpId="6" uiExpand="1" build="p"/>
        <p:bldP spid="9" grpId="7" uiExpand="1" build="p"/>
        <p:bldP spid="10" grpId="8" uiExpand="1" build="p"/>
        <p:bldP spid="11" grpId="9" uiExpand="1" build="p"/>
      </p:bldL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2026-07-15T15:31:44Z</dcterms:created>
  <dcterms:modified xsi:type="dcterms:W3CDTF">2026-07-15T15:31:44Z</dcterms:modified>
</cp:coreProperties>
</file>