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6" r:id="rId1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7: Interview Skills
&amp; All Rounds
Time: 10:45 AM – 12:30 PM
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AM – 12:30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All Rounds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are performances. Rehearse, don't hope.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EA580C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Navigate every interview round with confidence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Master the STAR method for behavioural questions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Handle aptitude, technical &amp; HR rounds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Answer tough questions without fumbling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Ask questions that leave a lasting impression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— What They Test &amp; How to Win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71323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1907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61872" y="1719072"/>
            <a:ext cx="237744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Shape 6"/>
          <p:cNvSpPr/>
          <p:nvPr/>
        </p:nvSpPr>
        <p:spPr>
          <a:xfrm>
            <a:off x="3675888" y="1719072"/>
            <a:ext cx="4572000" cy="69494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93608" y="1719072"/>
            <a:ext cx="3657600" cy="694944"/>
          </a:xfrm>
          <a:prstGeom prst="rect">
            <a:avLst/>
          </a:prstGeom>
          <a:solidFill>
            <a:srgbClr val="FFF4E8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71907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1719072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recruiter: does this person fit the JD?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94192" y="171907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Keywords, metrics, clean format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71323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23744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61872" y="2523744"/>
            <a:ext cx="237744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Shape 14"/>
          <p:cNvSpPr/>
          <p:nvPr/>
        </p:nvSpPr>
        <p:spPr>
          <a:xfrm>
            <a:off x="3675888" y="2523744"/>
            <a:ext cx="4572000" cy="69494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3608" y="2523744"/>
            <a:ext cx="3657600" cy="694944"/>
          </a:xfrm>
          <a:prstGeom prst="rect">
            <a:avLst/>
          </a:prstGeom>
          <a:solidFill>
            <a:srgbClr val="FFF4E8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252374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 / Psychometric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2523744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Logical, numerical, verbal reasoning speed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252374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Practice daily; manage time, skip &amp; return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71323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28416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61872" y="3328416"/>
            <a:ext cx="237744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75888" y="3328416"/>
            <a:ext cx="4572000" cy="69494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3608" y="3328416"/>
            <a:ext cx="3657600" cy="694944"/>
          </a:xfrm>
          <a:prstGeom prst="rect">
            <a:avLst/>
          </a:prstGeom>
          <a:solidFill>
            <a:srgbClr val="FFF4E8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33284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Round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94760" y="3328416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knowledge, coding, problem-solving live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94192" y="332841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Think aloud, admit gaps, show process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133088"/>
            <a:ext cx="71323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133088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261872" y="4133088"/>
            <a:ext cx="237744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2" name="Shape 30"/>
          <p:cNvSpPr/>
          <p:nvPr/>
        </p:nvSpPr>
        <p:spPr>
          <a:xfrm>
            <a:off x="3675888" y="4133088"/>
            <a:ext cx="4572000" cy="69494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3608" y="4133088"/>
            <a:ext cx="3657600" cy="694944"/>
          </a:xfrm>
          <a:prstGeom prst="rect">
            <a:avLst/>
          </a:prstGeom>
          <a:solidFill>
            <a:srgbClr val="FFF4E8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3312" y="41330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/ Task Round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94760" y="413308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handle real-world ambiguity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94192" y="413308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Ask clarifying questions, structure clearly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4937760"/>
            <a:ext cx="71323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937760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261872" y="4937760"/>
            <a:ext cx="237744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0" name="Shape 38"/>
          <p:cNvSpPr/>
          <p:nvPr/>
        </p:nvSpPr>
        <p:spPr>
          <a:xfrm>
            <a:off x="3675888" y="4937760"/>
            <a:ext cx="4572000" cy="69494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93608" y="4937760"/>
            <a:ext cx="3657600" cy="694944"/>
          </a:xfrm>
          <a:prstGeom prst="rect">
            <a:avLst/>
          </a:prstGeom>
          <a:solidFill>
            <a:srgbClr val="FFF4E8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53312" y="49377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Round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94760" y="4937760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fit, values, salary expectations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394192" y="493776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Honest, research the company, have a number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5742432"/>
            <a:ext cx="71323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574243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261872" y="5742432"/>
            <a:ext cx="237744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8" name="Shape 46"/>
          <p:cNvSpPr/>
          <p:nvPr/>
        </p:nvSpPr>
        <p:spPr>
          <a:xfrm>
            <a:off x="3675888" y="5742432"/>
            <a:ext cx="4572000" cy="694944"/>
          </a:xfrm>
          <a:prstGeom prst="rect">
            <a:avLst/>
          </a:prstGeom>
          <a:solidFill>
            <a:srgbClr val="F0F4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93608" y="5742432"/>
            <a:ext cx="3657600" cy="694944"/>
          </a:xfrm>
          <a:prstGeom prst="rect">
            <a:avLst/>
          </a:prstGeom>
          <a:solidFill>
            <a:srgbClr val="FFF4E8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574243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/ Final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794760" y="5742432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potential, situational judgement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394192" y="574243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STAR stories ready; show growth mindset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7588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test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9360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</a:t>
            </a:r>
            <a:endParaRPr lang="en-US" sz="10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50" fill="hold">
                        <p:stCondLst>
                          <p:cond delay="0"/>
                        </p:stCondLst>
                        <p:childTnLst>
                          <p:par>
                            <p:cTn id="451" presetID="2" presetClass="entr" presetSubtype="0" fill="hold" grpId="4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52" dur="500"/>
                                    <p:tgtEl>
                                      <p:spTgt spid="4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60" fill="hold">
                        <p:stCondLst>
                          <p:cond delay="0"/>
                        </p:stCondLst>
                        <p:childTnLst>
                          <p:par>
                            <p:cTn id="461" presetID="2" presetClass="entr" presetSubtype="0" fill="hold" grpId="4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62" dur="500"/>
                                    <p:tgtEl>
                                      <p:spTgt spid="4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70" fill="hold">
                        <p:stCondLst>
                          <p:cond delay="0"/>
                        </p:stCondLst>
                        <p:childTnLst>
                          <p:par>
                            <p:cTn id="471" presetID="2" presetClass="entr" presetSubtype="0" fill="hold" grpId="4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72" dur="500"/>
                                    <p:tgtEl>
                                      <p:spTgt spid="4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80" fill="hold">
                        <p:stCondLst>
                          <p:cond delay="0"/>
                        </p:stCondLst>
                        <p:childTnLst>
                          <p:par>
                            <p:cTn id="481" presetID="2" presetClass="entr" presetSubtype="0" fill="hold" grpId="4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82" dur="500"/>
                                    <p:tgtEl>
                                      <p:spTgt spid="4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0" fill="hold">
                        <p:stCondLst>
                          <p:cond delay="0"/>
                        </p:stCondLst>
                        <p:childTnLst>
                          <p:par>
                            <p:cTn id="491" presetID="2" presetClass="entr" presetSubtype="0" fill="hold" grpId="4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92" dur="500"/>
                                    <p:tgtEl>
                                      <p:spTgt spid="4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0" fill="hold">
                        <p:stCondLst>
                          <p:cond delay="0"/>
                        </p:stCondLst>
                        <p:childTnLst>
                          <p:par>
                            <p:cTn id="501" presetID="2" presetClass="entr" presetSubtype="0" fill="hold" grpId="4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02" dur="500"/>
                                    <p:tgtEl>
                                      <p:spTgt spid="5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10" fill="hold">
                        <p:stCondLst>
                          <p:cond delay="0"/>
                        </p:stCondLst>
                        <p:childTnLst>
                          <p:par>
                            <p:cTn id="511" presetID="2" presetClass="entr" presetSubtype="0" fill="hold" grpId="4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12" dur="500"/>
                                    <p:tgtEl>
                                      <p:spTgt spid="5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20" fill="hold">
                        <p:stCondLst>
                          <p:cond delay="0"/>
                        </p:stCondLst>
                        <p:childTnLst>
                          <p:par>
                            <p:cTn id="521" presetID="2" presetClass="entr" presetSubtype="0" fill="hold" grpId="5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2" dur="500"/>
                                    <p:tgtEl>
                                      <p:spTgt spid="5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30" fill="hold">
                        <p:stCondLst>
                          <p:cond delay="0"/>
                        </p:stCondLst>
                        <p:childTnLst>
                          <p:par>
                            <p:cTn id="531" presetID="2" presetClass="entr" presetSubtype="0" fill="hold" grpId="5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32" dur="500"/>
                                    <p:tgtEl>
                                      <p:spTgt spid="5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40" fill="hold">
                        <p:stCondLst>
                          <p:cond delay="0"/>
                        </p:stCondLst>
                        <p:childTnLst>
                          <p:par>
                            <p:cTn id="541" presetID="2" presetClass="entr" presetSubtype="0" fill="hold" grpId="5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42" dur="500"/>
                                    <p:tgtEl>
                                      <p:spTgt spid="5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  <p:bldP spid="45" grpId="43" uiExpand="1" build="p"/>
        <p:bldP spid="46" grpId="44" uiExpand="1" build="p"/>
        <p:bldP spid="47" grpId="45" uiExpand="1" build="p"/>
        <p:bldP spid="48" grpId="46" uiExpand="1" build="p"/>
        <p:bldP spid="49" grpId="47" uiExpand="1" build="p"/>
        <p:bldP spid="50" grpId="48" uiExpand="1" build="p"/>
        <p:bldP spid="51" grpId="49" uiExpand="1" build="p"/>
        <p:bldP spid="52" grpId="50" uiExpand="1" build="p"/>
        <p:bldP spid="53" grpId="51" uiExpand="1" build="p"/>
        <p:bldP spid="54" grpId="52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Method — Answer Every Behavioural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822960" cy="8686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03320" y="1874520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874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context. One to two sentences maximum. What was happening?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90088"/>
            <a:ext cx="822960" cy="868680"/>
          </a:xfrm>
          <a:prstGeom prst="rect">
            <a:avLst/>
          </a:prstGeom>
          <a:solidFill>
            <a:srgbClr val="D06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9008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371600" y="2990088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9900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03320" y="2990088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99008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YOUR specific responsibility in that situation?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822960" cy="868680"/>
          </a:xfrm>
          <a:prstGeom prst="rect">
            <a:avLst/>
          </a:prstGeom>
          <a:solidFill>
            <a:srgbClr val="A84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10565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371600" y="4105656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10565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03320" y="4105656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105656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do? Use 'I', not 'we'. Steps taken, decisions made.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221224"/>
            <a:ext cx="822960" cy="868680"/>
          </a:xfrm>
          <a:prstGeom prst="rect">
            <a:avLst/>
          </a:prstGeom>
          <a:solidFill>
            <a:srgbClr val="8A2E0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221224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1371600" y="5221224"/>
            <a:ext cx="2286000" cy="86868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522122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03320" y="5221224"/>
            <a:ext cx="795528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5221224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outcome? Quantify if possible. What did you learn?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"Tell me about a time you handled a difficult situation" — answer using STAR right now.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ASKED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You Will Be Asked — How to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406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1874520"/>
            <a:ext cx="5669280" cy="804672"/>
          </a:xfrm>
          <a:prstGeom prst="rect">
            <a:avLst/>
          </a:prstGeom>
          <a:solidFill>
            <a:srgbClr val="FFF8EE"/>
          </a:solidFill>
          <a:ln w="10160">
            <a:solidFill>
              <a:srgbClr val="F0C0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745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Tell me about yourself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44768" y="187452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summary: education → key project → why this role. 90 seconds.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4406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2788920"/>
            <a:ext cx="5669280" cy="804672"/>
          </a:xfrm>
          <a:prstGeom prst="rect">
            <a:avLst/>
          </a:prstGeom>
          <a:solidFill>
            <a:srgbClr val="FFF8EE"/>
          </a:solidFill>
          <a:ln w="10160">
            <a:solidFill>
              <a:srgbClr val="F0C0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889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this company?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4768" y="278892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answer: product, mission, recent news. Never 'good reputation.'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54406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3703320"/>
            <a:ext cx="5669280" cy="804672"/>
          </a:xfrm>
          <a:prstGeom prst="rect">
            <a:avLst/>
          </a:prstGeom>
          <a:solidFill>
            <a:srgbClr val="FFF8EE"/>
          </a:solidFill>
          <a:ln w="10160">
            <a:solidFill>
              <a:srgbClr val="F0C0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033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What's your weakness?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370332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weakness + active steps you're taking to improve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617720"/>
            <a:ext cx="54406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4617720"/>
            <a:ext cx="5669280" cy="804672"/>
          </a:xfrm>
          <a:prstGeom prst="rect">
            <a:avLst/>
          </a:prstGeom>
          <a:solidFill>
            <a:srgbClr val="FFF8EE"/>
          </a:solidFill>
          <a:ln w="10160">
            <a:solidFill>
              <a:srgbClr val="F0C0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6177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Where do you see yourself in 5 years?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461772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within the field, aligned with the company's direction.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54406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5532120"/>
            <a:ext cx="5669280" cy="804672"/>
          </a:xfrm>
          <a:prstGeom prst="rect">
            <a:avLst/>
          </a:prstGeom>
          <a:solidFill>
            <a:srgbClr val="FFF8EE"/>
          </a:solidFill>
          <a:ln w="10160">
            <a:solidFill>
              <a:srgbClr val="F0C0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55321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should we hire you?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44768" y="553212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specific skills + proof + what problem you solve for them.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Question (What they ask)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6473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Answer framework</a:t>
            </a:r>
            <a:endParaRPr lang="en-US" sz="10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Have Any Questions For Us?" — Yes. Always.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good questions signals preparation, curiosity, and seriousness.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19456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2724912" y="2057400"/>
            <a:ext cx="89611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05740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role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52928" y="2057400"/>
            <a:ext cx="8668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success look like in the first 90 days in this role?"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219456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2953512"/>
            <a:ext cx="89611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953512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growth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2953512"/>
            <a:ext cx="8668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your best performers have in common that I can learn from?"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849624"/>
            <a:ext cx="219456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4912" y="3849624"/>
            <a:ext cx="89611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84962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team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52928" y="3849624"/>
            <a:ext cx="8668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would you describe the team culture and how decisions are made?"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745736"/>
            <a:ext cx="219456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7"/>
          <p:cNvSpPr/>
          <p:nvPr/>
        </p:nvSpPr>
        <p:spPr>
          <a:xfrm>
            <a:off x="2724912" y="4745736"/>
            <a:ext cx="89611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745736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challenges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52928" y="4745736"/>
            <a:ext cx="8668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biggest challenge the team is working through right now?"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641848"/>
            <a:ext cx="219456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Shape 21"/>
          <p:cNvSpPr/>
          <p:nvPr/>
        </p:nvSpPr>
        <p:spPr>
          <a:xfrm>
            <a:off x="2724912" y="5641848"/>
            <a:ext cx="89611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64184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work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852928" y="5641848"/>
            <a:ext cx="8668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this role contribute to the company's larger goals?"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 about salary, leave, or 'what does the company do' in early rounds.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A580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Seat Interview Practice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groups of 3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interviewer, one candidate, one observer.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interview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asks: 'Tell me about yourself' + one STAR question. Candidate answers.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gives feedback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language, eye contact, structure, filler words. Specific and kind.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twice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experiences all three roles. Debrief: what changed after feedback?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else, preparation is the key to success.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Alexander Graham Bell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'What is Your Expected CTC?'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is in his HR round. The recruiter asks: 'What salary are you expecting?' He hasn't researched market rates. His college placed students at 4–12 LPA for similar roles. He doesn't know if he should quote high or low — or ask them first.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What's the best approach — and what should Karan have prepared before entering this room?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Research-backed range answer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my research, similar roles at this level are typically in the 6–8 LPA range. I'm open to discussion based on your compensation structure and the full package." Then — be quiet.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shows preparation. The upper end anchors the negotiation. Staying quiet after you name a number is a critical negotiation skill — the first one to speak after that often concedes.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Ask a clarifying question first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share the budgeted range for this role? I want to make sure we're aligned before I give you a number."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power move — gets their anchor first. Not always possible, but worth trying. If they deflect, use the research-backed range approach.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Say 'I'm flexible, whatever you offer'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no expectation. Leaves it entirely to the company to decide.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399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99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low confidence and no market awareness. You'll get the bottom of their range. Companies don't respect candidates who don't value themselves.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Interviewers Actually Evaluate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581400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hiring decisions are made in the first 90 seconds of the interview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Association for Psychological Science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720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0" y="1874520"/>
            <a:ext cx="3581400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20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5008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be hired: candidates who ask 3+ thoughtful questions vs those who ask none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008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Glassdoor Hiring Study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576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760" y="1874520"/>
            <a:ext cx="3581400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798576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16864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interviewers say preparation (knowing the company, role, and department) is most differentiating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864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LinkedIn Talent Research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102412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32120"/>
            <a:ext cx="10835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interview starts before the room. How you walk in, how you shake hands, whether you know the company's last quarter result — interviewers notice all of it before you say a word.</a:t>
            </a:r>
            <a:endParaRPr lang="en-US" sz="15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Throw Freshers Off — Answered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023360" cy="10789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65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'Tell me about a failure.'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pick a fake failure. Pick a real one where you recovered.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7086600" cy="1078992"/>
          </a:xfrm>
          <a:prstGeom prst="rect">
            <a:avLst/>
          </a:prstGeom>
          <a:solidFill>
            <a:srgbClr val="FFFAF0"/>
          </a:solidFill>
          <a:ln w="10160">
            <a:solidFill>
              <a:srgbClr val="F0C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920240"/>
            <a:ext cx="67848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answer: Real failure → what you did → what you learned → how it changed you. End on growth, not regret.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4023360" cy="10789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1546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should we hire you over 200 other candidates?'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1792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the time for humility. It's the time to own your differentiators.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108960"/>
            <a:ext cx="7086600" cy="1078992"/>
          </a:xfrm>
          <a:prstGeom prst="rect">
            <a:avLst/>
          </a:prstGeom>
          <a:solidFill>
            <a:srgbClr val="FFFAF0"/>
          </a:solidFill>
          <a:ln w="10160">
            <a:solidFill>
              <a:srgbClr val="F0C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108960"/>
            <a:ext cx="67848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answer: 3 specific skills + 1 personal trait + 1 thing you've done that most freshers haven't. Evidence beats adjectives.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4023360" cy="10789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43434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 you have any concerns about the role?'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1792" y="5010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testing honesty and research quality, not fishing for problems to reject you.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4297680"/>
            <a:ext cx="7086600" cy="1078992"/>
          </a:xfrm>
          <a:prstGeom prst="rect">
            <a:avLst/>
          </a:prstGeom>
          <a:solidFill>
            <a:srgbClr val="FFFAF0"/>
          </a:solidFill>
          <a:ln w="10160">
            <a:solidFill>
              <a:srgbClr val="F0C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4297680"/>
            <a:ext cx="67848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answer: Acknowledge one legitimate question (growth path, tech stack, team size) — not a dealbreaker. Shows you've thought critically.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486400"/>
            <a:ext cx="4023360" cy="10789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5532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will you do if a better offer comes along?'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6199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honest, not defensive. This is about character.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5486400"/>
            <a:ext cx="7086600" cy="1078992"/>
          </a:xfrm>
          <a:prstGeom prst="rect">
            <a:avLst/>
          </a:prstGeom>
          <a:solidFill>
            <a:srgbClr val="FFFAF0"/>
          </a:solidFill>
          <a:ln w="10160">
            <a:solidFill>
              <a:srgbClr val="F0C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5486400"/>
            <a:ext cx="67848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answer: 'I'm committed to evaluating based on fit, growth, and culture — not just number. That's why I'm here today specifically.'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</p:bldLst>
    </p:timing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6576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These — Your Interview Prep Resources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this slide, or scan what's useful now. These are your homework for the next 30 days.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32004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320040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2697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0" name="Image 0" descr="/home/claude/c2c/prep/qr_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78892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Method Guide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on behavioural answers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377440"/>
            <a:ext cx="32004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377440"/>
            <a:ext cx="32004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5349240" y="2697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Image 1" descr="/home/claude/c2c/prep/qr_linked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788920"/>
            <a:ext cx="1463040" cy="1463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916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LinkedIn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70916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checklist &amp; examples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21040" y="2377440"/>
            <a:ext cx="32004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2377440"/>
            <a:ext cx="32004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9098280" y="2697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/home/claude/c2c/prep/qr_poll_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788920"/>
            <a:ext cx="1463040" cy="1463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5820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interview question bank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swap these QR codes for your own curated links before delivery.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