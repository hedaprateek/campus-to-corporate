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4" r:id="rId15"/>
    <p:sldId id="265" r:id="rId16"/>
    <p:sldId id="266" r:id="rId1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2: Professional Etiquettes
&amp; Behaviour
Time: 10:45 AM – 12:15 PM
Day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1645920" cy="384048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365760"/>
            <a:ext cx="1645920" cy="384048"/>
          </a:xfrm>
          <a:prstGeom prst="roundRect">
            <a:avLst/>
          </a:prstGeom>
          <a:solidFill>
            <a:srgbClr val="1E3360"/>
          </a:solidFill>
          <a:ln w="12700">
            <a:solidFill>
              <a:srgbClr val="1E33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365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AM – 12:15 PM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9601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Etiquettes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Behaviour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48640" y="30358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always presenting yourself — make it intentional.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767328"/>
            <a:ext cx="11064240" cy="263347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93192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LEARN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" y="50292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outcomes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Dress appropriately for the workplace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Master business greetings &amp; introductions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51023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Navigate meetings with confidence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Use email and messaging professionally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Manage digital etiquette &amp; online presence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to Corporate Ready  ·  2-Day Workshop</a:t>
            </a:r>
            <a:endParaRPr lang="en-US" sz="10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</p:bldLst>
    </p:timing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 for the Role You Want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440680" cy="4937760"/>
          </a:xfrm>
          <a:prstGeom prst="rect">
            <a:avLst/>
          </a:prstGeom>
          <a:solidFill>
            <a:srgbClr val="152242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645920"/>
            <a:ext cx="5440680" cy="4937760"/>
          </a:xfrm>
          <a:prstGeom prst="rect">
            <a:avLst/>
          </a:prstGeom>
          <a:solidFill>
            <a:srgbClr val="152242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45920"/>
            <a:ext cx="5440680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6459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 This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7512" y="22860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" y="22860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your clothes — wrinkles signal carelessness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" y="27432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" y="27432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colour tones; avoid clashing patterns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32004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" y="32004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footwear clean and formal / smart-casual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512" y="36576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" y="36576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accessories — less is more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7512" y="41148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" y="41148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Fragrance: subtle, not overpowering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" y="45720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" y="45720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Hair: neat and groomed regardless of style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7512" y="50292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" y="50292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casual as your safe default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1645920"/>
            <a:ext cx="5440680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16459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Avoid This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82512" y="22860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6547104" y="22860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Logos, slogans, or loud graphic prints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82512" y="27432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6547104" y="27432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Overly casual: flip-flops, ripped clothing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82512" y="32004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6547104" y="32004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Ill-fitting clothes (too tight or oversized)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82512" y="36576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6547104" y="36576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jewellery in professional settings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82512" y="41148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547104" y="41148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makeup — keep it light and natural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82512" y="45720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6547104" y="45720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or worn-out footwear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82512" y="50292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6547104" y="50292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outfit repeated noticeably in same week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50" fill="hold">
                        <p:stCondLst>
                          <p:cond delay="0"/>
                        </p:stCondLst>
                        <p:childTnLst>
                          <p:par>
                            <p:cTn id="351" presetID="2" presetClass="entr" presetSubtype="0" fill="hold" grpId="3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52" dur="50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60" fill="hold">
                        <p:stCondLst>
                          <p:cond delay="0"/>
                        </p:stCondLst>
                        <p:childTnLst>
                          <p:par>
                            <p:cTn id="361" presetID="2" presetClass="entr" presetSubtype="0" fill="hold" grpId="3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62" dur="500"/>
                                    <p:tgtEl>
                                      <p:spTgt spid="3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0" fill="hold">
                        <p:stCondLst>
                          <p:cond delay="0"/>
                        </p:stCondLst>
                        <p:childTnLst>
                          <p:par>
                            <p:cTn id="371" presetID="2" presetClass="entr" presetSubtype="0" fill="hold" grpId="3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72" dur="500"/>
                                    <p:tgtEl>
                                      <p:spTgt spid="3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80" fill="hold">
                        <p:stCondLst>
                          <p:cond delay="0"/>
                        </p:stCondLst>
                        <p:childTnLst>
                          <p:par>
                            <p:cTn id="381" presetID="2" presetClass="entr" presetSubtype="0" fill="hold" grpId="3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82" dur="500"/>
                                    <p:tgtEl>
                                      <p:spTgt spid="3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  <p:bldP spid="35" grpId="33" uiExpand="1" build="p"/>
        <p:bldP spid="36" grpId="34" uiExpand="1" build="p"/>
        <p:bldP spid="37" grpId="35" uiExpand="1" build="p"/>
        <p:bldP spid="38" grpId="36" uiExpand="1" build="p"/>
      </p:bldLst>
    </p:timing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Introduce Yourself Professionally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623560" cy="1371600"/>
          </a:xfrm>
          <a:prstGeom prst="rect">
            <a:avLst/>
          </a:prstGeom>
          <a:solidFill>
            <a:srgbClr val="152242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98424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34440" y="237744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stand when meeting someone new in a formal context. It signals respect.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73368" y="1874520"/>
            <a:ext cx="5623560" cy="1371600"/>
          </a:xfrm>
          <a:prstGeom prst="rect">
            <a:avLst/>
          </a:prstGeom>
          <a:solidFill>
            <a:srgbClr val="152242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87452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04888" y="198424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contact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104888" y="237744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eye contact before you extend your hand. 2–3 seconds, not a stare.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5623560" cy="1371600"/>
          </a:xfrm>
          <a:prstGeom prst="rect">
            <a:avLst/>
          </a:prstGeom>
          <a:solidFill>
            <a:srgbClr val="152242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8328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49300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handshake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34440" y="388620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their grip. Limp = unconfident. Crushing = aggressive. Firm = professional.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73368" y="3383280"/>
            <a:ext cx="5623560" cy="1371600"/>
          </a:xfrm>
          <a:prstGeom prst="rect">
            <a:avLst/>
          </a:prstGeom>
          <a:solidFill>
            <a:srgbClr val="152242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338328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04888" y="349300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clearly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104888" y="388620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'Hi, I'm [Name], I've just joined as a [role] in [team].' Short, clear, no filler.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4892040"/>
            <a:ext cx="5623560" cy="1371600"/>
          </a:xfrm>
          <a:prstGeom prst="rect">
            <a:avLst/>
          </a:prstGeom>
          <a:solidFill>
            <a:srgbClr val="152242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89204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34440" y="500176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first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34440" y="539496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your intro, give them space to respond. Don't launch into your story.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73368" y="4892040"/>
            <a:ext cx="5623560" cy="1371600"/>
          </a:xfrm>
          <a:prstGeom prst="rect">
            <a:avLst/>
          </a:prstGeom>
          <a:solidFill>
            <a:srgbClr val="152242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489204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04888" y="500176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104888" y="539496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'Great to meet you' + remember their name, use it once in the conversation.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</p:bldLst>
    </p:timing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 Etiquette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703320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7568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67512" y="27157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2 minutes early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31546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'on time.' Early is on time; on time is late.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16552" y="1965960"/>
            <a:ext cx="3703320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6552" y="207568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81144" y="27157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face-down or silent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81144" y="31546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glancing at your phone signals disengagement.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30184" y="1965960"/>
            <a:ext cx="3703320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207568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494776" y="27157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notes visibly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94776" y="31546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you're engaged. Recall this later — it matters.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069080"/>
            <a:ext cx="3703320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7880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7512" y="48188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up — don't lurk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" y="5257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useful comment is better than silent attendance.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16552" y="4069080"/>
            <a:ext cx="3703320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16552" y="417880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🤐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581144" y="48188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interrupt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81144" y="5257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 pause. If urgent, write a note first.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30184" y="4069080"/>
            <a:ext cx="3703320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0184" y="417880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🔚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494776" y="48188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clarity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94776" y="5257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'My next step is…' before you leave the room.</a:t>
            </a:r>
            <a:endParaRPr lang="en-US" sz="12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</p:bldLst>
    </p:timing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Professional Emails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2011680" cy="68580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6" name="Shape 4"/>
          <p:cNvSpPr/>
          <p:nvPr/>
        </p:nvSpPr>
        <p:spPr>
          <a:xfrm>
            <a:off x="2542032" y="1719072"/>
            <a:ext cx="9144000" cy="6858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190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7480" y="1719072"/>
            <a:ext cx="8823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specific. "Follow-up on project timeline — Action needed" not "Hey"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523744"/>
            <a:ext cx="2011680" cy="68580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0" name="Shape 8"/>
          <p:cNvSpPr/>
          <p:nvPr/>
        </p:nvSpPr>
        <p:spPr>
          <a:xfrm>
            <a:off x="2542032" y="2523744"/>
            <a:ext cx="9144000" cy="6858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52374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2523744"/>
            <a:ext cx="8823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[Name]" or "Hi [Name]" — never "Hey" or no greeting at all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328416"/>
            <a:ext cx="2011680" cy="68580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4" name="Shape 12"/>
          <p:cNvSpPr/>
          <p:nvPr/>
        </p:nvSpPr>
        <p:spPr>
          <a:xfrm>
            <a:off x="2542032" y="3328416"/>
            <a:ext cx="9144000" cy="6858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32841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3328416"/>
            <a:ext cx="8823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purpose in one sentence. No warmup filler.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133088"/>
            <a:ext cx="2011680" cy="68580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8" name="Shape 16"/>
          <p:cNvSpPr/>
          <p:nvPr/>
        </p:nvSpPr>
        <p:spPr>
          <a:xfrm>
            <a:off x="2542032" y="4133088"/>
            <a:ext cx="9144000" cy="6858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13308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4133088"/>
            <a:ext cx="8823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paragraphs. One idea per paragraph. Use bullets for lists.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937760"/>
            <a:ext cx="2011680" cy="68580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2" name="Shape 20"/>
          <p:cNvSpPr/>
          <p:nvPr/>
        </p:nvSpPr>
        <p:spPr>
          <a:xfrm>
            <a:off x="2542032" y="4937760"/>
            <a:ext cx="9144000" cy="6858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937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97480" y="4937760"/>
            <a:ext cx="8823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"Best regards" / "Thanks" + Full name + Designation + Phone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5742432"/>
            <a:ext cx="2011680" cy="68580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6" name="Shape 24"/>
          <p:cNvSpPr/>
          <p:nvPr/>
        </p:nvSpPr>
        <p:spPr>
          <a:xfrm>
            <a:off x="2542032" y="5742432"/>
            <a:ext cx="9144000" cy="6858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57424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97480" y="5742432"/>
            <a:ext cx="8823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them in the body before attaching. Never attach without mentioning.</a:t>
            </a:r>
            <a:endParaRPr lang="en-US" sz="13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</p:bldLst>
    </p:timing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9669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65760"/>
            <a:ext cx="2011680" cy="384048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ACTIVITY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Introduction Challenge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59436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860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143000" y="2286000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3408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30-second intro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270662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role, one thing you're excited to do in your career. Write it now.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273552"/>
            <a:ext cx="59436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7355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43000" y="3273552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3284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80160" y="3694176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someone you haven't spoken to today. Introduce yourself as if this is day 1 at work.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261104"/>
            <a:ext cx="59436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26110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43000" y="4261104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3159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round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80160" y="468172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gives feedback: eye contact, firmness, clarity — one thing to improve.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248656"/>
            <a:ext cx="59436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24865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143000" y="5248656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5303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debrief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80160" y="566928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felt awkward? What came naturally? We discuss and refine together.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</p:bldLst>
    </p:timing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1097280" y="1097280"/>
            <a:ext cx="9966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get a second chance to make a first impression — but you get thousands of chances to make a lasting one.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Professional wisdom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What Would You Do?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55680" cy="1371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190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The Slack Message That Went Too Far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1214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is frustrated after a meeting where his idea was dismissed. He sends a message to a colleague: 'Honestly, Priya's feedback made no sense. I don't know how she got to that position.' Later he learns the message was forwarded.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21868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should Arjun have done instead — before, during, and after the meeting?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858768"/>
            <a:ext cx="3657600" cy="2633472"/>
          </a:xfrm>
          <a:prstGeom prst="rect">
            <a:avLst/>
          </a:prstGeom>
          <a:solidFill>
            <a:srgbClr val="E8F8F0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858768"/>
            <a:ext cx="365760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Processed frustration privately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his feelings in a journal or took a walk. Revisited the feedback with fresh eyes 24 hours later.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messages are permanent and portable. Never vent in writing at work. The rule: write nothing you wouldn't print on a company notice board.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3858768"/>
            <a:ext cx="3657600" cy="2633472"/>
          </a:xfrm>
          <a:prstGeom prst="rect">
            <a:avLst/>
          </a:prstGeom>
          <a:solidFill>
            <a:srgbClr val="E8F8F0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3858768"/>
            <a:ext cx="365760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Sent the vent to a friend outside 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537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 college friend to vent freely, without naming colleagues by role or project details.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537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37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venting channel from work channel protects you. Everyone needs to decompress — just not in the building (or on the company network).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75320" y="3858768"/>
            <a:ext cx="3657600" cy="2633472"/>
          </a:xfrm>
          <a:prstGeom prst="rect">
            <a:avLst/>
          </a:prstGeom>
          <a:solidFill>
            <a:srgbClr val="FFF0F0"/>
          </a:solidFill>
          <a:ln w="19050">
            <a:solidFill>
              <a:srgbClr val="F8C0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5320" y="3858768"/>
            <a:ext cx="3657600" cy="38404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Sent the Slack message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399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Expressed frustration about a colleague to another colleague via a company platform.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399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fails: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399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risks at once: message forwarded, screenshot stored, colleague relationship permanently altered. In many companies this is a fireable offense.</a:t>
            </a:r>
            <a:endParaRPr lang="en-US" sz="11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</p:bldLst>
    </p:timing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vs DON'T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Workplace Etiquette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5394960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6263640" y="1719072"/>
            <a:ext cx="5394960" cy="43891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19072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 THIS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63640" y="1719072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AVOID THIS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28600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messages within 4 hours during work hours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090672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09067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Out of Office when on leave — every time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895344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895344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email before hitting Reply All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700016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700016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@mentions sparingly — only when action is needed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504688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5504688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Proofread Slack/Teams messages before sending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286000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8C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228600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'Noted' as a reply — it says nothing actionable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3090672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8C8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309067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a message and respond 3 days later without apology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895344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8C8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3895344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your manager on every email to prove you're working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4700016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8C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4700016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caps lock in messages — it reads as shouting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5504688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8C8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5504688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emails without context — summarise what you need</a:t>
            </a:r>
            <a:endParaRPr lang="en-US" sz="13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</p:bldLst>
    </p:timing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3-Second, 30-Second, 3-Minute Rule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form impressions in layers. Each layer is harder to override than the last.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84832"/>
            <a:ext cx="3703320" cy="446227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084832"/>
            <a:ext cx="370332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848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seconds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4203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67512" y="3182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First Impression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" y="36393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Dress, grooming, posture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40782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Facial expression and energy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451713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Whether you look like you belong here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" y="49560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fully in your control. Prepare it the night before, not the morning of.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16552" y="2084832"/>
            <a:ext cx="3703320" cy="446227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2084832"/>
            <a:ext cx="370332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416552" y="20848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16552" y="254203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81144" y="3182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Words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81144" y="36393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How you introduce yourself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81144" y="40782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Eye contact and handshake quality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81144" y="451713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First question you ask or answer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81144" y="49560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your intro until it sounds natural, not memorised.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30184" y="2084832"/>
            <a:ext cx="3703320" cy="4462272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0184" y="2084832"/>
            <a:ext cx="370332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8330184" y="20848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30184" y="254203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494776" y="3182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Depth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94776" y="36393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Do you listen or just wait to speak?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94776" y="40782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Are your ideas structured?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94776" y="451713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Do you make them feel heard?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94776" y="49560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listening beats brilliant talking every time. Practice the pause.</a:t>
            </a:r>
            <a:endParaRPr lang="en-US" sz="11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</p:bldLst>
    </p:timing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2377440" cy="365760"/>
          </a:xfrm>
          <a:prstGeom prst="roundRect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WORKPLACE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at Remote &amp; Hybrid Work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job may be partly or fully remote. The rules of trust and visibility change when you're not in the room.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40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544068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Over-communicate — silence reads as absence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54787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Turn your camera on for the first 5 minutes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416966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Reply to messages within a few hours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479145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Make your work visible: share updates proactively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541324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Have a clean, well-lit video setup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2331720"/>
            <a:ext cx="5440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331720"/>
            <a:ext cx="5440680" cy="4572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33172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DON'T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92608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multitask visibly on calls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354787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go dark when stuck — ask sooner, not later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55080" y="416966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assume people know what you're doing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55080" y="479145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skip virtual social moments entirely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55080" y="541324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rely only on text — hop on a call when it's faster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</p:bldL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2026-07-15T15:31:43Z</dcterms:created>
  <dcterms:modified xsi:type="dcterms:W3CDTF">2026-07-15T15:31:43Z</dcterms:modified>
</cp:coreProperties>
</file>