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12"/>
    <p:sldId id="262" r:id="rId13"/>
    <p:sldId id="263" r:id="rId14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9: Mock Interviews
&amp; Peer Feedback
Time: 3:15 – 4:45 PM
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– 4:45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Peer Feedback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preparation is practice. Now we make it real.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Experience a full simulated interview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Give specific, constructive feedback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Identify and break verbal habits (um, uh, like)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Build confidence through repetition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Walk out with one clear improvement target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Session Works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3716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1874520"/>
            <a:ext cx="1828800" cy="8046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7" name="Shape 5"/>
          <p:cNvSpPr/>
          <p:nvPr/>
        </p:nvSpPr>
        <p:spPr>
          <a:xfrm>
            <a:off x="3794760" y="1874520"/>
            <a:ext cx="7909560" cy="8046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87452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20240" y="18745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13632" y="1874520"/>
            <a:ext cx="7635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practice 2 common questions together as a class. Trainer models a good and bad answer.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13716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920240" y="2834640"/>
            <a:ext cx="1828800" cy="8046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3" name="Shape 11"/>
          <p:cNvSpPr/>
          <p:nvPr/>
        </p:nvSpPr>
        <p:spPr>
          <a:xfrm>
            <a:off x="3794760" y="2834640"/>
            <a:ext cx="7909560" cy="8046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3464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83464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13632" y="2834640"/>
            <a:ext cx="7635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3. Structured interview (5 questions). Interviewer uses the question bank card.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13716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1920240" y="3794760"/>
            <a:ext cx="1828800" cy="8046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9" name="Shape 17"/>
          <p:cNvSpPr/>
          <p:nvPr/>
        </p:nvSpPr>
        <p:spPr>
          <a:xfrm>
            <a:off x="3794760" y="3794760"/>
            <a:ext cx="7909560" cy="8046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79476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20240" y="379476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13632" y="3794760"/>
            <a:ext cx="7635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and interviewer give structured feedback using the scorecard.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4754880"/>
            <a:ext cx="13716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4754880"/>
            <a:ext cx="1828800" cy="8046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5" name="Shape 23"/>
          <p:cNvSpPr/>
          <p:nvPr/>
        </p:nvSpPr>
        <p:spPr>
          <a:xfrm>
            <a:off x="3794760" y="4754880"/>
            <a:ext cx="7909560" cy="8046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75488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920240" y="475488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913632" y="4754880"/>
            <a:ext cx="7635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rotate. Same structure, different person in the hot seat.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715000"/>
            <a:ext cx="1371600" cy="8046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Shape 28"/>
          <p:cNvSpPr/>
          <p:nvPr/>
        </p:nvSpPr>
        <p:spPr>
          <a:xfrm>
            <a:off x="1920240" y="5715000"/>
            <a:ext cx="1828800" cy="8046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1" name="Shape 29"/>
          <p:cNvSpPr/>
          <p:nvPr/>
        </p:nvSpPr>
        <p:spPr>
          <a:xfrm>
            <a:off x="3794760" y="5715000"/>
            <a:ext cx="7909560" cy="8046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71500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920240" y="571500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Debrief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13632" y="5715000"/>
            <a:ext cx="7635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insights shared. What surprised you? What will you change immediately?</a:t>
            </a:r>
            <a:endParaRPr lang="en-US" sz="13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 Question Bank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Interviewers: pick 5 questions across the 3 categories below.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3703320" cy="455371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11680"/>
            <a:ext cx="370332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011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HR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" y="25420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Tell me about yourself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7512" y="316382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are your biggest strengths?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7512" y="378561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Describe a challenge you overcame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" y="44074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Where do you see yourself in 3 years?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7512" y="5029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do you want to work here?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" y="56509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motivates you?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16552" y="2011680"/>
            <a:ext cx="3703320" cy="455371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2011680"/>
            <a:ext cx="37033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416552" y="2011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(STAR)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81144" y="25420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Tell me about a time you worked in a team conflict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81144" y="316382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Describe a situation where you failed — what happened?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81144" y="378561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Give an example of when you took initiative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81144" y="44074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When did you have to meet a tight deadline?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81144" y="5029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Describe a time you had to persuade someone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81144" y="56509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Tell me about your proudest achievement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30184" y="2011680"/>
            <a:ext cx="3703320" cy="455371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30184" y="2011680"/>
            <a:ext cx="3703320" cy="411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8330184" y="2011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494776" y="254203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Your manager asks you to do something you disagree with. What do you do?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94776" y="316382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You're assigned a task with no instructions. Walk me through your approach.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94776" y="378561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 colleague takes credit for your work in a meeting. How do you respond?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494776" y="44074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You realise you'll miss a deadline. What do you do?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94776" y="5029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Two urgent tasks arrive simultaneously. How do you decide?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94776" y="565099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You notice a process that's wasting time. How do you raise it?</a:t>
            </a:r>
            <a:endParaRPr lang="en-US" sz="11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</p:bldLst>
    </p:timin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Feedback Scorecard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1–5. Note one specific example for each item. Be honest — that's the kindest thing you can do.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6858000" cy="5486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2084832"/>
            <a:ext cx="4251960" cy="54864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848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Clarity of answer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73168" y="2084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response easy to follow? Structured?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79792" y="215798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57032" y="215798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703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34272" y="215798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11512" y="215798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1151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88752" y="215798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88752" y="2157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706624"/>
            <a:ext cx="6858000" cy="5486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0" y="2706624"/>
            <a:ext cx="4251960" cy="54864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270662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 of STAR structure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3168" y="270662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include situation, action, result?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79792" y="277977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79792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57032" y="277977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034272" y="277977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34272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11512" y="277977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11512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588752" y="277977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88752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3328416"/>
            <a:ext cx="6858000" cy="5486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3328416"/>
            <a:ext cx="4251960" cy="54864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" y="33284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Eye contact &amp; posture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73168" y="332841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body language throughout?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479792" y="3401568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7979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57032" y="3401568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5703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34272" y="3401568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3427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811512" y="3401568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1151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588752" y="3401568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8875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3950208"/>
            <a:ext cx="6858000" cy="5486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9" name="Shape 47"/>
          <p:cNvSpPr/>
          <p:nvPr/>
        </p:nvSpPr>
        <p:spPr>
          <a:xfrm>
            <a:off x="7406640" y="3950208"/>
            <a:ext cx="4251960" cy="54864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" y="39502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Filler words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773168" y="39502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Um, uh, like, you know — count them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479792" y="4023360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79792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257032" y="4023360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57032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034272" y="4023360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34272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811512" y="4023360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811512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588752" y="4023360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88752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02920" y="4572000"/>
            <a:ext cx="6858000" cy="5486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63" name="Shape 61"/>
          <p:cNvSpPr/>
          <p:nvPr/>
        </p:nvSpPr>
        <p:spPr>
          <a:xfrm>
            <a:off x="7406640" y="4572000"/>
            <a:ext cx="4251960" cy="54864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64" name="Text 62"/>
          <p:cNvSpPr/>
          <p:nvPr/>
        </p:nvSpPr>
        <p:spPr>
          <a:xfrm>
            <a:off x="621792" y="4572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Enthusiasm &amp; energy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4773168" y="45720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seem genuinely interested?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7479792" y="4645152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79792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8257032" y="4645152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57032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9034272" y="4645152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34272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811512" y="4645152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11512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0588752" y="4645152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88752" y="4645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02920" y="5193792"/>
            <a:ext cx="6858000" cy="5486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77" name="Shape 75"/>
          <p:cNvSpPr/>
          <p:nvPr/>
        </p:nvSpPr>
        <p:spPr>
          <a:xfrm>
            <a:off x="7406640" y="5193792"/>
            <a:ext cx="4251960" cy="54864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78" name="Text 76"/>
          <p:cNvSpPr/>
          <p:nvPr/>
        </p:nvSpPr>
        <p:spPr>
          <a:xfrm>
            <a:off x="621792" y="51937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Time management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4773168" y="5193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too short (&lt;45 sec) nor too long (&gt;3 min)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7479792" y="526694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79792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257032" y="526694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57032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034272" y="526694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034272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9811512" y="526694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811512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10588752" y="5266944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588752" y="5266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02920" y="5815584"/>
            <a:ext cx="6858000" cy="54864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91" name="Shape 89"/>
          <p:cNvSpPr/>
          <p:nvPr/>
        </p:nvSpPr>
        <p:spPr>
          <a:xfrm>
            <a:off x="7406640" y="5815584"/>
            <a:ext cx="4251960" cy="548640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92" name="Text 90"/>
          <p:cNvSpPr/>
          <p:nvPr/>
        </p:nvSpPr>
        <p:spPr>
          <a:xfrm>
            <a:off x="621792" y="581558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Question at the end</a:t>
            </a:r>
            <a:endParaRPr lang="en-US" sz="1300" dirty="0"/>
          </a:p>
        </p:txBody>
      </p:sp>
      <p:sp>
        <p:nvSpPr>
          <p:cNvPr id="93" name="Text 91"/>
          <p:cNvSpPr/>
          <p:nvPr/>
        </p:nvSpPr>
        <p:spPr>
          <a:xfrm>
            <a:off x="4773168" y="581558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ask a quality question to the interviewer?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7479792" y="588873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79792" y="5888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8257032" y="588873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257032" y="5888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9034272" y="588873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034272" y="5888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811512" y="588873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811512" y="5888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0588752" y="5888736"/>
            <a:ext cx="402336" cy="402336"/>
          </a:xfrm>
          <a:prstGeom prst="ellipse">
            <a:avLst/>
          </a:prstGeom>
          <a:solidFill>
            <a:srgbClr val="060E1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588752" y="5888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10" fill="hold">
                        <p:stCondLst>
                          <p:cond delay="0"/>
                        </p:stCondLst>
                        <p:childTnLst>
                          <p:par>
                            <p:cTn id="411" presetID="2" presetClass="entr" presetSubtype="0" fill="hold" grpId="3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12" dur="50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0" fill="hold">
                        <p:stCondLst>
                          <p:cond delay="0"/>
                        </p:stCondLst>
                        <p:childTnLst>
                          <p:par>
                            <p:cTn id="421" presetID="2" presetClass="entr" presetSubtype="0" fill="hold" grpId="4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2" dur="50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30" fill="hold">
                        <p:stCondLst>
                          <p:cond delay="0"/>
                        </p:stCondLst>
                        <p:childTnLst>
                          <p:par>
                            <p:cTn id="431" presetID="2" presetClass="entr" presetSubtype="0" fill="hold" grpId="4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32" dur="500"/>
                                    <p:tgtEl>
                                      <p:spTgt spid="4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0" fill="hold">
                        <p:stCondLst>
                          <p:cond delay="0"/>
                        </p:stCondLst>
                        <p:childTnLst>
                          <p:par>
                            <p:cTn id="441" presetID="2" presetClass="entr" presetSubtype="0" fill="hold" grpId="4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42" dur="500"/>
                                    <p:tgtEl>
                                      <p:spTgt spid="4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50" fill="hold">
                        <p:stCondLst>
                          <p:cond delay="0"/>
                        </p:stCondLst>
                        <p:childTnLst>
                          <p:par>
                            <p:cTn id="451" presetID="2" presetClass="entr" presetSubtype="0" fill="hold" grpId="4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52" dur="500"/>
                                    <p:tgtEl>
                                      <p:spTgt spid="4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60" fill="hold">
                        <p:stCondLst>
                          <p:cond delay="0"/>
                        </p:stCondLst>
                        <p:childTnLst>
                          <p:par>
                            <p:cTn id="461" presetID="2" presetClass="entr" presetSubtype="0" fill="hold" grpId="4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62" dur="500"/>
                                    <p:tgtEl>
                                      <p:spTgt spid="4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70" fill="hold">
                        <p:stCondLst>
                          <p:cond delay="0"/>
                        </p:stCondLst>
                        <p:childTnLst>
                          <p:par>
                            <p:cTn id="471" presetID="2" presetClass="entr" presetSubtype="0" fill="hold" grpId="4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72" dur="500"/>
                                    <p:tgtEl>
                                      <p:spTgt spid="4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80" fill="hold">
                        <p:stCondLst>
                          <p:cond delay="0"/>
                        </p:stCondLst>
                        <p:childTnLst>
                          <p:par>
                            <p:cTn id="481" presetID="2" presetClass="entr" presetSubtype="0" fill="hold" grpId="4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82" dur="500"/>
                                    <p:tgtEl>
                                      <p:spTgt spid="4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90" fill="hold">
                        <p:stCondLst>
                          <p:cond delay="0"/>
                        </p:stCondLst>
                        <p:childTnLst>
                          <p:par>
                            <p:cTn id="491" presetID="2" presetClass="entr" presetSubtype="0" fill="hold" grpId="4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92" dur="500"/>
                                    <p:tgtEl>
                                      <p:spTgt spid="4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0" fill="hold">
                        <p:stCondLst>
                          <p:cond delay="0"/>
                        </p:stCondLst>
                        <p:childTnLst>
                          <p:par>
                            <p:cTn id="501" presetID="2" presetClass="entr" presetSubtype="0" fill="hold" grpId="4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02" dur="500"/>
                                    <p:tgtEl>
                                      <p:spTgt spid="5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10" fill="hold">
                        <p:stCondLst>
                          <p:cond delay="0"/>
                        </p:stCondLst>
                        <p:childTnLst>
                          <p:par>
                            <p:cTn id="511" presetID="2" presetClass="entr" presetSubtype="0" fill="hold" grpId="4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12" dur="500"/>
                                    <p:tgtEl>
                                      <p:spTgt spid="5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20" fill="hold">
                        <p:stCondLst>
                          <p:cond delay="0"/>
                        </p:stCondLst>
                        <p:childTnLst>
                          <p:par>
                            <p:cTn id="521" presetID="2" presetClass="entr" presetSubtype="0" fill="hold" grpId="5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2" dur="500"/>
                                    <p:tgtEl>
                                      <p:spTgt spid="5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30" fill="hold">
                        <p:stCondLst>
                          <p:cond delay="0"/>
                        </p:stCondLst>
                        <p:childTnLst>
                          <p:par>
                            <p:cTn id="531" presetID="2" presetClass="entr" presetSubtype="0" fill="hold" grpId="5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32" dur="500"/>
                                    <p:tgtEl>
                                      <p:spTgt spid="5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40" fill="hold">
                        <p:stCondLst>
                          <p:cond delay="0"/>
                        </p:stCondLst>
                        <p:childTnLst>
                          <p:par>
                            <p:cTn id="541" presetID="2" presetClass="entr" presetSubtype="0" fill="hold" grpId="5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42" dur="500"/>
                                    <p:tgtEl>
                                      <p:spTgt spid="5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50" fill="hold">
                        <p:stCondLst>
                          <p:cond delay="0"/>
                        </p:stCondLst>
                        <p:childTnLst>
                          <p:par>
                            <p:cTn id="551" presetID="2" presetClass="entr" presetSubtype="0" fill="hold" grpId="5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52" dur="500"/>
                                    <p:tgtEl>
                                      <p:spTgt spid="5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60" fill="hold">
                        <p:stCondLst>
                          <p:cond delay="0"/>
                        </p:stCondLst>
                        <p:childTnLst>
                          <p:par>
                            <p:cTn id="561" presetID="2" presetClass="entr" presetSubtype="0" fill="hold" grpId="5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62" dur="500"/>
                                    <p:tgtEl>
                                      <p:spTgt spid="5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70" fill="hold">
                        <p:stCondLst>
                          <p:cond delay="0"/>
                        </p:stCondLst>
                        <p:childTnLst>
                          <p:par>
                            <p:cTn id="571" presetID="2" presetClass="entr" presetSubtype="0" fill="hold" grpId="5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72" dur="500"/>
                                    <p:tgtEl>
                                      <p:spTgt spid="5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80" fill="hold">
                        <p:stCondLst>
                          <p:cond delay="0"/>
                        </p:stCondLst>
                        <p:childTnLst>
                          <p:par>
                            <p:cTn id="581" presetID="2" presetClass="entr" presetSubtype="0" fill="hold" grpId="5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82" dur="500"/>
                                    <p:tgtEl>
                                      <p:spTgt spid="5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90" fill="hold">
                        <p:stCondLst>
                          <p:cond delay="0"/>
                        </p:stCondLst>
                        <p:childTnLst>
                          <p:par>
                            <p:cTn id="591" presetID="2" presetClass="entr" presetSubtype="0" fill="hold" grpId="5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92" dur="500"/>
                                    <p:tgtEl>
                                      <p:spTgt spid="5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0" fill="hold">
                        <p:stCondLst>
                          <p:cond delay="0"/>
                        </p:stCondLst>
                        <p:childTnLst>
                          <p:par>
                            <p:cTn id="601" presetID="2" presetClass="entr" presetSubtype="0" fill="hold" grpId="5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02" dur="500"/>
                                    <p:tgtEl>
                                      <p:spTgt spid="6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10" fill="hold">
                        <p:stCondLst>
                          <p:cond delay="0"/>
                        </p:stCondLst>
                        <p:childTnLst>
                          <p:par>
                            <p:cTn id="611" presetID="2" presetClass="entr" presetSubtype="0" fill="hold" grpId="5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12" dur="500"/>
                                    <p:tgtEl>
                                      <p:spTgt spid="6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20" fill="hold">
                        <p:stCondLst>
                          <p:cond delay="0"/>
                        </p:stCondLst>
                        <p:childTnLst>
                          <p:par>
                            <p:cTn id="621" presetID="2" presetClass="entr" presetSubtype="0" fill="hold" grpId="6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2" dur="500"/>
                                    <p:tgtEl>
                                      <p:spTgt spid="6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30" fill="hold">
                        <p:stCondLst>
                          <p:cond delay="0"/>
                        </p:stCondLst>
                        <p:childTnLst>
                          <p:par>
                            <p:cTn id="631" presetID="2" presetClass="entr" presetSubtype="0" fill="hold" grpId="6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32" dur="500"/>
                                    <p:tgtEl>
                                      <p:spTgt spid="6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40" fill="hold">
                        <p:stCondLst>
                          <p:cond delay="0"/>
                        </p:stCondLst>
                        <p:childTnLst>
                          <p:par>
                            <p:cTn id="641" presetID="2" presetClass="entr" presetSubtype="0" fill="hold" grpId="6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42" dur="500"/>
                                    <p:tgtEl>
                                      <p:spTgt spid="6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50" fill="hold">
                        <p:stCondLst>
                          <p:cond delay="0"/>
                        </p:stCondLst>
                        <p:childTnLst>
                          <p:par>
                            <p:cTn id="651" presetID="2" presetClass="entr" presetSubtype="0" fill="hold" grpId="6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52" dur="500"/>
                                    <p:tgtEl>
                                      <p:spTgt spid="6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60" fill="hold">
                        <p:stCondLst>
                          <p:cond delay="0"/>
                        </p:stCondLst>
                        <p:childTnLst>
                          <p:par>
                            <p:cTn id="661" presetID="2" presetClass="entr" presetSubtype="0" fill="hold" grpId="6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62" dur="500"/>
                                    <p:tgtEl>
                                      <p:spTgt spid="6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70" fill="hold">
                        <p:stCondLst>
                          <p:cond delay="0"/>
                        </p:stCondLst>
                        <p:childTnLst>
                          <p:par>
                            <p:cTn id="671" presetID="2" presetClass="entr" presetSubtype="0" fill="hold" grpId="6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72" dur="500"/>
                                    <p:tgtEl>
                                      <p:spTgt spid="6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80" fill="hold">
                        <p:stCondLst>
                          <p:cond delay="0"/>
                        </p:stCondLst>
                        <p:childTnLst>
                          <p:par>
                            <p:cTn id="681" presetID="2" presetClass="entr" presetSubtype="0" fill="hold" grpId="6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82" dur="500"/>
                                    <p:tgtEl>
                                      <p:spTgt spid="6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90" fill="hold">
                        <p:stCondLst>
                          <p:cond delay="0"/>
                        </p:stCondLst>
                        <p:childTnLst>
                          <p:par>
                            <p:cTn id="691" presetID="2" presetClass="entr" presetSubtype="0" fill="hold" grpId="6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92" dur="500"/>
                                    <p:tgtEl>
                                      <p:spTgt spid="6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0" fill="hold">
                        <p:stCondLst>
                          <p:cond delay="0"/>
                        </p:stCondLst>
                        <p:childTnLst>
                          <p:par>
                            <p:cTn id="701" presetID="2" presetClass="entr" presetSubtype="0" fill="hold" grpId="6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02" dur="500"/>
                                    <p:tgtEl>
                                      <p:spTgt spid="7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10" fill="hold">
                        <p:stCondLst>
                          <p:cond delay="0"/>
                        </p:stCondLst>
                        <p:childTnLst>
                          <p:par>
                            <p:cTn id="711" presetID="2" presetClass="entr" presetSubtype="0" fill="hold" grpId="6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12" dur="500"/>
                                    <p:tgtEl>
                                      <p:spTgt spid="7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20" fill="hold">
                        <p:stCondLst>
                          <p:cond delay="0"/>
                        </p:stCondLst>
                        <p:childTnLst>
                          <p:par>
                            <p:cTn id="721" presetID="2" presetClass="entr" presetSubtype="0" fill="hold" grpId="7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2" dur="500"/>
                                    <p:tgtEl>
                                      <p:spTgt spid="7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30" fill="hold">
                        <p:stCondLst>
                          <p:cond delay="0"/>
                        </p:stCondLst>
                        <p:childTnLst>
                          <p:par>
                            <p:cTn id="731" presetID="2" presetClass="entr" presetSubtype="0" fill="hold" grpId="7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32" dur="500"/>
                                    <p:tgtEl>
                                      <p:spTgt spid="7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40" fill="hold">
                        <p:stCondLst>
                          <p:cond delay="0"/>
                        </p:stCondLst>
                        <p:childTnLst>
                          <p:par>
                            <p:cTn id="741" presetID="2" presetClass="entr" presetSubtype="0" fill="hold" grpId="7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42" dur="500"/>
                                    <p:tgtEl>
                                      <p:spTgt spid="7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50" fill="hold">
                        <p:stCondLst>
                          <p:cond delay="0"/>
                        </p:stCondLst>
                        <p:childTnLst>
                          <p:par>
                            <p:cTn id="751" presetID="2" presetClass="entr" presetSubtype="0" fill="hold" grpId="7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52" dur="500"/>
                                    <p:tgtEl>
                                      <p:spTgt spid="7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60" fill="hold">
                        <p:stCondLst>
                          <p:cond delay="0"/>
                        </p:stCondLst>
                        <p:childTnLst>
                          <p:par>
                            <p:cTn id="761" presetID="2" presetClass="entr" presetSubtype="0" fill="hold" grpId="7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62" dur="500"/>
                                    <p:tgtEl>
                                      <p:spTgt spid="7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70" fill="hold">
                        <p:stCondLst>
                          <p:cond delay="0"/>
                        </p:stCondLst>
                        <p:childTnLst>
                          <p:par>
                            <p:cTn id="771" presetID="2" presetClass="entr" presetSubtype="0" fill="hold" grpId="7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72" dur="500"/>
                                    <p:tgtEl>
                                      <p:spTgt spid="7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80" fill="hold">
                        <p:stCondLst>
                          <p:cond delay="0"/>
                        </p:stCondLst>
                        <p:childTnLst>
                          <p:par>
                            <p:cTn id="781" presetID="2" presetClass="entr" presetSubtype="0" fill="hold" grpId="7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82" dur="500"/>
                                    <p:tgtEl>
                                      <p:spTgt spid="7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90" fill="hold">
                        <p:stCondLst>
                          <p:cond delay="0"/>
                        </p:stCondLst>
                        <p:childTnLst>
                          <p:par>
                            <p:cTn id="791" presetID="2" presetClass="entr" presetSubtype="0" fill="hold" grpId="7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92" dur="500"/>
                                    <p:tgtEl>
                                      <p:spTgt spid="7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0" fill="hold">
                        <p:stCondLst>
                          <p:cond delay="0"/>
                        </p:stCondLst>
                        <p:childTnLst>
                          <p:par>
                            <p:cTn id="801" presetID="2" presetClass="entr" presetSubtype="0" fill="hold" grpId="7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02" dur="500"/>
                                    <p:tgtEl>
                                      <p:spTgt spid="8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10" fill="hold">
                        <p:stCondLst>
                          <p:cond delay="0"/>
                        </p:stCondLst>
                        <p:childTnLst>
                          <p:par>
                            <p:cTn id="811" presetID="2" presetClass="entr" presetSubtype="0" fill="hold" grpId="7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12" dur="500"/>
                                    <p:tgtEl>
                                      <p:spTgt spid="8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20" fill="hold">
                        <p:stCondLst>
                          <p:cond delay="0"/>
                        </p:stCondLst>
                        <p:childTnLst>
                          <p:par>
                            <p:cTn id="821" presetID="2" presetClass="entr" presetSubtype="0" fill="hold" grpId="8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2" dur="500"/>
                                    <p:tgtEl>
                                      <p:spTgt spid="8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30" fill="hold">
                        <p:stCondLst>
                          <p:cond delay="0"/>
                        </p:stCondLst>
                        <p:childTnLst>
                          <p:par>
                            <p:cTn id="831" presetID="2" presetClass="entr" presetSubtype="0" fill="hold" grpId="8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32" dur="500"/>
                                    <p:tgtEl>
                                      <p:spTgt spid="8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40" fill="hold">
                        <p:stCondLst>
                          <p:cond delay="0"/>
                        </p:stCondLst>
                        <p:childTnLst>
                          <p:par>
                            <p:cTn id="841" presetID="2" presetClass="entr" presetSubtype="0" fill="hold" grpId="8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42" dur="500"/>
                                    <p:tgtEl>
                                      <p:spTgt spid="8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50" fill="hold">
                        <p:stCondLst>
                          <p:cond delay="0"/>
                        </p:stCondLst>
                        <p:childTnLst>
                          <p:par>
                            <p:cTn id="851" presetID="2" presetClass="entr" presetSubtype="0" fill="hold" grpId="8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52" dur="500"/>
                                    <p:tgtEl>
                                      <p:spTgt spid="8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60" fill="hold">
                        <p:stCondLst>
                          <p:cond delay="0"/>
                        </p:stCondLst>
                        <p:childTnLst>
                          <p:par>
                            <p:cTn id="861" presetID="2" presetClass="entr" presetSubtype="0" fill="hold" grpId="8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62" dur="500"/>
                                    <p:tgtEl>
                                      <p:spTgt spid="8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70" fill="hold">
                        <p:stCondLst>
                          <p:cond delay="0"/>
                        </p:stCondLst>
                        <p:childTnLst>
                          <p:par>
                            <p:cTn id="871" presetID="2" presetClass="entr" presetSubtype="0" fill="hold" grpId="8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72" dur="500"/>
                                    <p:tgtEl>
                                      <p:spTgt spid="8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80" fill="hold">
                        <p:stCondLst>
                          <p:cond delay="0"/>
                        </p:stCondLst>
                        <p:childTnLst>
                          <p:par>
                            <p:cTn id="881" presetID="2" presetClass="entr" presetSubtype="0" fill="hold" grpId="8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82" dur="500"/>
                                    <p:tgtEl>
                                      <p:spTgt spid="8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90" fill="hold">
                        <p:stCondLst>
                          <p:cond delay="0"/>
                        </p:stCondLst>
                        <p:childTnLst>
                          <p:par>
                            <p:cTn id="891" presetID="2" presetClass="entr" presetSubtype="0" fill="hold" grpId="8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92" dur="500"/>
                                    <p:tgtEl>
                                      <p:spTgt spid="8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0" fill="hold">
                        <p:stCondLst>
                          <p:cond delay="0"/>
                        </p:stCondLst>
                        <p:childTnLst>
                          <p:par>
                            <p:cTn id="901" presetID="2" presetClass="entr" presetSubtype="0" fill="hold" grpId="8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02" dur="500"/>
                                    <p:tgtEl>
                                      <p:spTgt spid="9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10" fill="hold">
                        <p:stCondLst>
                          <p:cond delay="0"/>
                        </p:stCondLst>
                        <p:childTnLst>
                          <p:par>
                            <p:cTn id="911" presetID="2" presetClass="entr" presetSubtype="0" fill="hold" grpId="8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12" dur="500"/>
                                    <p:tgtEl>
                                      <p:spTgt spid="9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20" fill="hold">
                        <p:stCondLst>
                          <p:cond delay="0"/>
                        </p:stCondLst>
                        <p:childTnLst>
                          <p:par>
                            <p:cTn id="921" presetID="2" presetClass="entr" presetSubtype="0" fill="hold" grpId="9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2" dur="500"/>
                                    <p:tgtEl>
                                      <p:spTgt spid="9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30" fill="hold">
                        <p:stCondLst>
                          <p:cond delay="0"/>
                        </p:stCondLst>
                        <p:childTnLst>
                          <p:par>
                            <p:cTn id="931" presetID="2" presetClass="entr" presetSubtype="0" fill="hold" grpId="9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32" dur="500"/>
                                    <p:tgtEl>
                                      <p:spTgt spid="9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40" fill="hold">
                        <p:stCondLst>
                          <p:cond delay="0"/>
                        </p:stCondLst>
                        <p:childTnLst>
                          <p:par>
                            <p:cTn id="941" presetID="2" presetClass="entr" presetSubtype="0" fill="hold" grpId="9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42" dur="500"/>
                                    <p:tgtEl>
                                      <p:spTgt spid="9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50" fill="hold">
                        <p:stCondLst>
                          <p:cond delay="0"/>
                        </p:stCondLst>
                        <p:childTnLst>
                          <p:par>
                            <p:cTn id="951" presetID="2" presetClass="entr" presetSubtype="0" fill="hold" grpId="9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52" dur="500"/>
                                    <p:tgtEl>
                                      <p:spTgt spid="9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60" fill="hold">
                        <p:stCondLst>
                          <p:cond delay="0"/>
                        </p:stCondLst>
                        <p:childTnLst>
                          <p:par>
                            <p:cTn id="961" presetID="2" presetClass="entr" presetSubtype="0" fill="hold" grpId="9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62" dur="500"/>
                                    <p:tgtEl>
                                      <p:spTgt spid="9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70" fill="hold">
                        <p:stCondLst>
                          <p:cond delay="0"/>
                        </p:stCondLst>
                        <p:childTnLst>
                          <p:par>
                            <p:cTn id="971" presetID="2" presetClass="entr" presetSubtype="0" fill="hold" grpId="9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72" dur="500"/>
                                    <p:tgtEl>
                                      <p:spTgt spid="9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80" fill="hold">
                        <p:stCondLst>
                          <p:cond delay="0"/>
                        </p:stCondLst>
                        <p:childTnLst>
                          <p:par>
                            <p:cTn id="981" presetID="2" presetClass="entr" presetSubtype="0" fill="hold" grpId="9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82" dur="500"/>
                                    <p:tgtEl>
                                      <p:spTgt spid="9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90" fill="hold">
                        <p:stCondLst>
                          <p:cond delay="0"/>
                        </p:stCondLst>
                        <p:childTnLst>
                          <p:par>
                            <p:cTn id="991" presetID="2" presetClass="entr" presetSubtype="0" fill="hold" grpId="9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92" dur="500"/>
                                    <p:tgtEl>
                                      <p:spTgt spid="9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0" fill="hold">
                        <p:stCondLst>
                          <p:cond delay="0"/>
                        </p:stCondLst>
                        <p:childTnLst>
                          <p:par>
                            <p:cTn id="1001" presetID="2" presetClass="entr" presetSubtype="0" fill="hold" grpId="9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02" dur="500"/>
                                    <p:tgtEl>
                                      <p:spTgt spid="10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10" fill="hold">
                        <p:stCondLst>
                          <p:cond delay="0"/>
                        </p:stCondLst>
                        <p:childTnLst>
                          <p:par>
                            <p:cTn id="1011" presetID="2" presetClass="entr" presetSubtype="0" fill="hold" grpId="9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12" dur="500"/>
                                    <p:tgtEl>
                                      <p:spTgt spid="10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20" fill="hold">
                        <p:stCondLst>
                          <p:cond delay="0"/>
                        </p:stCondLst>
                        <p:childTnLst>
                          <p:par>
                            <p:cTn id="1021" presetID="2" presetClass="entr" presetSubtype="0" fill="hold" grpId="10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2" dur="500"/>
                                    <p:tgtEl>
                                      <p:spTgt spid="10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30" fill="hold">
                        <p:stCondLst>
                          <p:cond delay="0"/>
                        </p:stCondLst>
                        <p:childTnLst>
                          <p:par>
                            <p:cTn id="1031" presetID="2" presetClass="entr" presetSubtype="0" fill="hold" grpId="10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32" dur="500"/>
                                    <p:tgtEl>
                                      <p:spTgt spid="10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  <p:bldP spid="41" grpId="39" uiExpand="1" build="p"/>
        <p:bldP spid="42" grpId="40" uiExpand="1" build="p"/>
        <p:bldP spid="43" grpId="41" uiExpand="1" build="p"/>
        <p:bldP spid="44" grpId="42" uiExpand="1" build="p"/>
        <p:bldP spid="45" grpId="43" uiExpand="1" build="p"/>
        <p:bldP spid="46" grpId="44" uiExpand="1" build="p"/>
        <p:bldP spid="47" grpId="45" uiExpand="1" build="p"/>
        <p:bldP spid="48" grpId="46" uiExpand="1" build="p"/>
        <p:bldP spid="49" grpId="47" uiExpand="1" build="p"/>
        <p:bldP spid="50" grpId="48" uiExpand="1" build="p"/>
        <p:bldP spid="51" grpId="49" uiExpand="1" build="p"/>
        <p:bldP spid="52" grpId="50" uiExpand="1" build="p"/>
        <p:bldP spid="53" grpId="51" uiExpand="1" build="p"/>
        <p:bldP spid="54" grpId="52" uiExpand="1" build="p"/>
        <p:bldP spid="55" grpId="53" uiExpand="1" build="p"/>
        <p:bldP spid="56" grpId="54" uiExpand="1" build="p"/>
        <p:bldP spid="57" grpId="55" uiExpand="1" build="p"/>
        <p:bldP spid="58" grpId="56" uiExpand="1" build="p"/>
        <p:bldP spid="59" grpId="57" uiExpand="1" build="p"/>
        <p:bldP spid="60" grpId="58" uiExpand="1" build="p"/>
        <p:bldP spid="61" grpId="59" uiExpand="1" build="p"/>
        <p:bldP spid="62" grpId="60" uiExpand="1" build="p"/>
        <p:bldP spid="63" grpId="61" uiExpand="1" build="p"/>
        <p:bldP spid="64" grpId="62" uiExpand="1" build="p"/>
        <p:bldP spid="65" grpId="63" uiExpand="1" build="p"/>
        <p:bldP spid="66" grpId="64" uiExpand="1" build="p"/>
        <p:bldP spid="67" grpId="65" uiExpand="1" build="p"/>
        <p:bldP spid="68" grpId="66" uiExpand="1" build="p"/>
        <p:bldP spid="69" grpId="67" uiExpand="1" build="p"/>
        <p:bldP spid="70" grpId="68" uiExpand="1" build="p"/>
        <p:bldP spid="71" grpId="69" uiExpand="1" build="p"/>
        <p:bldP spid="72" grpId="70" uiExpand="1" build="p"/>
        <p:bldP spid="73" grpId="71" uiExpand="1" build="p"/>
        <p:bldP spid="74" grpId="72" uiExpand="1" build="p"/>
        <p:bldP spid="75" grpId="73" uiExpand="1" build="p"/>
        <p:bldP spid="76" grpId="74" uiExpand="1" build="p"/>
        <p:bldP spid="77" grpId="75" uiExpand="1" build="p"/>
        <p:bldP spid="78" grpId="76" uiExpand="1" build="p"/>
        <p:bldP spid="79" grpId="77" uiExpand="1" build="p"/>
        <p:bldP spid="80" grpId="78" uiExpand="1" build="p"/>
        <p:bldP spid="81" grpId="79" uiExpand="1" build="p"/>
        <p:bldP spid="82" grpId="80" uiExpand="1" build="p"/>
        <p:bldP spid="83" grpId="81" uiExpand="1" build="p"/>
        <p:bldP spid="84" grpId="82" uiExpand="1" build="p"/>
        <p:bldP spid="85" grpId="83" uiExpand="1" build="p"/>
        <p:bldP spid="86" grpId="84" uiExpand="1" build="p"/>
        <p:bldP spid="87" grpId="85" uiExpand="1" build="p"/>
        <p:bldP spid="88" grpId="86" uiExpand="1" build="p"/>
        <p:bldP spid="89" grpId="87" uiExpand="1" build="p"/>
        <p:bldP spid="90" grpId="88" uiExpand="1" build="p"/>
        <p:bldP spid="91" grpId="89" uiExpand="1" build="p"/>
        <p:bldP spid="92" grpId="90" uiExpand="1" build="p"/>
        <p:bldP spid="93" grpId="91" uiExpand="1" build="p"/>
        <p:bldP spid="94" grpId="92" uiExpand="1" build="p"/>
        <p:bldP spid="95" grpId="93" uiExpand="1" build="p"/>
        <p:bldP spid="96" grpId="94" uiExpand="1" build="p"/>
        <p:bldP spid="97" grpId="95" uiExpand="1" build="p"/>
        <p:bldP spid="98" grpId="96" uiExpand="1" build="p"/>
        <p:bldP spid="99" grpId="97" uiExpand="1" build="p"/>
        <p:bldP spid="100" grpId="98" uiExpand="1" build="p"/>
        <p:bldP spid="101" grpId="99" uiExpand="1" build="p"/>
        <p:bldP spid="102" grpId="100" uiExpand="1" build="p"/>
        <p:bldP spid="103" grpId="101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HABITS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&amp; Habits That Undermine Your Credibility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5440680" cy="4937760"/>
          </a:xfrm>
          <a:prstGeom prst="rect">
            <a:avLst/>
          </a:prstGeom>
          <a:solidFill>
            <a:srgbClr val="15224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645920"/>
            <a:ext cx="5440680" cy="4937760"/>
          </a:xfrm>
          <a:prstGeom prst="rect">
            <a:avLst/>
          </a:prstGeom>
          <a:solidFill>
            <a:srgbClr val="15224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544068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Stop Saying These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" y="22860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 / uh / like / you know" — filler words signal lack of preparation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7512" y="27432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" y="2743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think… maybe… I guess…" — hedging makes you sound unsure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32004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" y="3200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be honest with you" — implies you weren't honest before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512" y="36576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"Actually / basically / literally" — overused; adds nothing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" y="41148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" y="4114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"Sorry, that's a stupid question" — never pre-apologise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" y="45720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" y="4572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did…" in answer to "what did YOU do"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7512" y="50292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" y="5029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not sure, but…" — then don't say it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1645920"/>
            <a:ext cx="5440680" cy="4754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382512" y="16459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Replace With These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82512" y="22860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6547104" y="2286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+ breathe — a 2-second pause sounds confident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82512" y="27432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547104" y="2743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my experience…" or "What I found was…"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82512" y="32004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547104" y="32004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language: numbers, names, dates, outcomes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82512" y="36576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547104" y="36576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breathe before responding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82512" y="41148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547104" y="41148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in complete sentences — no trailing off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82512" y="45720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547104" y="45720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I-statements for your own contributions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82512" y="5029200"/>
            <a:ext cx="54864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6547104" y="502920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 great question, let me think about that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Most Common Mistakes in Mock Interviews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5623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01952"/>
            <a:ext cx="4572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01952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1956816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answer before structuring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2359152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Pause 3 seconds. Say: 'Let me just organise my thoughts.' Then answer.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73368" y="1901952"/>
            <a:ext cx="5623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901952"/>
            <a:ext cx="4572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1901952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0296" y="1956816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'We did this' when the question asks about YOU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0296" y="2359152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'I' for individual contributions, 'we' only when genuinely collaborative.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108960"/>
            <a:ext cx="5623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108960"/>
            <a:ext cx="4572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089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9848" y="3163824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off at the end of the answer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356616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Close with: 'And that's the key thing I learned / the outcome we achieved.' Seal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73368" y="3108960"/>
            <a:ext cx="5623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73368" y="3108960"/>
            <a:ext cx="4572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3108960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0296" y="3163824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3 minutes on context, 10 seconds on 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0296" y="3566160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 should be: 10% S, 10% T, 60% A, 20% R. Most value is in the Action.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315968"/>
            <a:ext cx="5623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315968"/>
            <a:ext cx="4572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315968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9848" y="437083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'I don't have any weaknesses'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4773168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'Something I'm actively working on is X — here's what I'm doing about it.'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73368" y="4315968"/>
            <a:ext cx="5623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4315968"/>
            <a:ext cx="4572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373368" y="4315968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0296" y="4370832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asking a question at the end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0296" y="4773168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Prepare 3 questions in advance. Always ask at least 1. Always.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5522976"/>
            <a:ext cx="5623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5522976"/>
            <a:ext cx="4572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5522976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69848" y="557784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Apologising for nervousness mid-answer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69848" y="5980176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acknowledge nervousness — the interviewer may not have noticed. Now they have.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73368" y="5522976"/>
            <a:ext cx="56235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73368" y="5522976"/>
            <a:ext cx="45720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5522976"/>
            <a:ext cx="45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0296" y="5577840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same answer for every behavioural question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40296" y="5980176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Prepare 6 distinct STAR stories. Map each to a different skill: leadership, failure, teamwork, initiative, conflict, success.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10" fill="hold">
                        <p:stCondLst>
                          <p:cond delay="0"/>
                        </p:stCondLst>
                        <p:childTnLst>
                          <p:par>
                            <p:cTn id="411" presetID="2" presetClass="entr" presetSubtype="0" fill="hold" grpId="3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12" dur="50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0" fill="hold">
                        <p:stCondLst>
                          <p:cond delay="0"/>
                        </p:stCondLst>
                        <p:childTnLst>
                          <p:par>
                            <p:cTn id="421" presetID="2" presetClass="entr" presetSubtype="0" fill="hold" grpId="4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2" dur="50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30" fill="hold">
                        <p:stCondLst>
                          <p:cond delay="0"/>
                        </p:stCondLst>
                        <p:childTnLst>
                          <p:par>
                            <p:cTn id="431" presetID="2" presetClass="entr" presetSubtype="0" fill="hold" grpId="4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32" dur="500"/>
                                    <p:tgtEl>
                                      <p:spTgt spid="4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0" fill="hold">
                        <p:stCondLst>
                          <p:cond delay="0"/>
                        </p:stCondLst>
                        <p:childTnLst>
                          <p:par>
                            <p:cTn id="441" presetID="2" presetClass="entr" presetSubtype="0" fill="hold" grpId="4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42" dur="500"/>
                                    <p:tgtEl>
                                      <p:spTgt spid="4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  <p:bldP spid="41" grpId="39" uiExpand="1" build="p"/>
        <p:bldP spid="42" grpId="40" uiExpand="1" build="p"/>
        <p:bldP spid="43" grpId="41" uiExpand="1" build="p"/>
        <p:bldP spid="44" grpId="42" uiExpand="1" build="p"/>
      </p:bldLst>
    </p:timing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RESEARCH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Gets You the Offer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358140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interview success is attributed to personality and cultural fit (not technical skill alone)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CareerBuilder Survey 2023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720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200" y="1874520"/>
            <a:ext cx="358140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26720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45008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interviews needed by candidates who don't prepare structured answers vs those who 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008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Interview coaching aggregate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85760" y="1874520"/>
            <a:ext cx="3581400" cy="3474720"/>
          </a:xfrm>
          <a:prstGeom prst="rect">
            <a:avLst/>
          </a:prstGeom>
          <a:solidFill>
            <a:srgbClr val="152242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85760" y="1874520"/>
            <a:ext cx="3581400" cy="2011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7985760" y="2148840"/>
            <a:ext cx="3581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168640" y="3474720"/>
            <a:ext cx="326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interviewers say confidence and body language are the biggest differentiator between candidates at the same skill level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68640" y="4270248"/>
            <a:ext cx="326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LinkedIn Hiring Trends 2023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55680" cy="1024128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532120"/>
            <a:ext cx="10835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Technical skill gets you considered. Communication, confidence, and preparation get you hired. Today's session gives you that edge — if you use it after you leave this room.</a:t>
            </a:r>
            <a:endParaRPr lang="en-US" sz="15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</p:bldLst>
    </p:timing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FOLLOW-UP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in the 24 Hours After Every Interview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2011680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38528"/>
            <a:ext cx="1901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 hours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938528"/>
            <a:ext cx="3291840" cy="98755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8" name="Text 6"/>
          <p:cNvSpPr/>
          <p:nvPr/>
        </p:nvSpPr>
        <p:spPr>
          <a:xfrm>
            <a:off x="2670048" y="1938528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thank-you email to the recruiter / interviewer.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97880" y="1938528"/>
            <a:ext cx="5806440" cy="98755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6016752" y="1938528"/>
            <a:ext cx="5559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to 3 sentences: thank you, one specific thing from the conversation, a line reaffirming your interest. This is done by less than 5% of candidates.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2011680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108960"/>
            <a:ext cx="1901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4 hours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3108960"/>
            <a:ext cx="3291840" cy="98755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2670048" y="3108960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every question you were asked and how you answered.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897880" y="3108960"/>
            <a:ext cx="5806440" cy="98755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Text 14"/>
          <p:cNvSpPr/>
          <p:nvPr/>
        </p:nvSpPr>
        <p:spPr>
          <a:xfrm>
            <a:off x="6016752" y="3108960"/>
            <a:ext cx="5559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fades fast. Your answer log becomes your prep for the next round — and tells you exactly where you fumbled.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279392"/>
            <a:ext cx="2011680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279392"/>
            <a:ext cx="1901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24 hours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4279392"/>
            <a:ext cx="3291840" cy="98755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0" name="Text 18"/>
          <p:cNvSpPr/>
          <p:nvPr/>
        </p:nvSpPr>
        <p:spPr>
          <a:xfrm>
            <a:off x="2670048" y="4279392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one thing you'd answer differently.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897880" y="4279392"/>
            <a:ext cx="5806440" cy="98755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2" name="Text 20"/>
          <p:cNvSpPr/>
          <p:nvPr/>
        </p:nvSpPr>
        <p:spPr>
          <a:xfrm>
            <a:off x="6016752" y="4279392"/>
            <a:ext cx="5559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 beat yourself up — to improve. Every interview is a training round for the next one. The best candidates treat every rejection as a debug session.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5449824"/>
            <a:ext cx="2011680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449824"/>
            <a:ext cx="1901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reply in 5 days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60320" y="5449824"/>
            <a:ext cx="3291840" cy="98755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6" name="Text 24"/>
          <p:cNvSpPr/>
          <p:nvPr/>
        </p:nvSpPr>
        <p:spPr>
          <a:xfrm>
            <a:off x="2670048" y="5449824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brief, professional follow-up email — once.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897880" y="5449824"/>
            <a:ext cx="5806440" cy="98755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8" name="Text 26"/>
          <p:cNvSpPr/>
          <p:nvPr/>
        </p:nvSpPr>
        <p:spPr>
          <a:xfrm>
            <a:off x="6016752" y="5449824"/>
            <a:ext cx="5559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'Following up — [Your Name] interview on [Date]'. One email is proactive. Two is persistent. Three is a red flag.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2026-07-15T15:31:44Z</dcterms:created>
  <dcterms:modified xsi:type="dcterms:W3CDTF">2026-07-15T15:31:44Z</dcterms:modified>
</cp:coreProperties>
</file>